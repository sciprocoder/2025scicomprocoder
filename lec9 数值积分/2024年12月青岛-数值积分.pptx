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23" r:id="rId2"/>
  </p:sldMasterIdLst>
  <p:notesMasterIdLst>
    <p:notesMasterId r:id="rId19"/>
  </p:notesMasterIdLst>
  <p:sldIdLst>
    <p:sldId id="453" r:id="rId3"/>
    <p:sldId id="741" r:id="rId4"/>
    <p:sldId id="749" r:id="rId5"/>
    <p:sldId id="750" r:id="rId6"/>
    <p:sldId id="751" r:id="rId7"/>
    <p:sldId id="760" r:id="rId8"/>
    <p:sldId id="752" r:id="rId9"/>
    <p:sldId id="754" r:id="rId10"/>
    <p:sldId id="755" r:id="rId11"/>
    <p:sldId id="753" r:id="rId12"/>
    <p:sldId id="756" r:id="rId13"/>
    <p:sldId id="761" r:id="rId14"/>
    <p:sldId id="745" r:id="rId15"/>
    <p:sldId id="762" r:id="rId16"/>
    <p:sldId id="746" r:id="rId17"/>
    <p:sldId id="452" r:id="rId1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勇" initials="张" lastIdx="1" clrIdx="0">
    <p:extLst>
      <p:ext uri="{19B8F6BF-5375-455C-9EA6-DF929625EA0E}">
        <p15:presenceInfo xmlns:p15="http://schemas.microsoft.com/office/powerpoint/2012/main" userId="50563d1afad6de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00"/>
    <a:srgbClr val="FF3300"/>
    <a:srgbClr val="FA6638"/>
    <a:srgbClr val="008000"/>
    <a:srgbClr val="58A888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91" autoAdjust="0"/>
    <p:restoredTop sz="82381" autoAdjust="0"/>
  </p:normalViewPr>
  <p:slideViewPr>
    <p:cSldViewPr>
      <p:cViewPr varScale="1">
        <p:scale>
          <a:sx n="104" d="100"/>
          <a:sy n="104" d="100"/>
        </p:scale>
        <p:origin x="240" y="200"/>
      </p:cViewPr>
      <p:guideLst>
        <p:guide orient="horz" pos="212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098901300128181"/>
          <c:y val="6.7669172932330823E-2"/>
          <c:w val="0.86853085515473361"/>
          <c:h val="0.78397874607779294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Sheet1!$A$1:$A$66</c:f>
              <c:numCache>
                <c:formatCode>0.00E+00</c:formatCode>
                <c:ptCount val="66"/>
                <c:pt idx="0">
                  <c:v>2.9536000000000001E-8</c:v>
                </c:pt>
                <c:pt idx="1">
                  <c:v>9.4285E-7</c:v>
                </c:pt>
                <c:pt idx="2">
                  <c:v>7.1307000000000002E-6</c:v>
                </c:pt>
                <c:pt idx="3">
                  <c:v>2.9878000000000001E-5</c:v>
                </c:pt>
                <c:pt idx="4">
                  <c:v>9.0517000000000001E-5</c:v>
                </c:pt>
                <c:pt idx="5">
                  <c:v>2.2324000000000001E-4</c:v>
                </c:pt>
                <c:pt idx="6">
                  <c:v>4.7747000000000002E-4</c:v>
                </c:pt>
                <c:pt idx="7">
                  <c:v>9.1974000000000005E-4</c:v>
                </c:pt>
                <c:pt idx="8">
                  <c:v>1.635E-3</c:v>
                </c:pt>
                <c:pt idx="9">
                  <c:v>2.7274000000000001E-3</c:v>
                </c:pt>
                <c:pt idx="10">
                  <c:v>4.3204000000000003E-3</c:v>
                </c:pt>
                <c:pt idx="11">
                  <c:v>6.5561999999999999E-3</c:v>
                </c:pt>
                <c:pt idx="12">
                  <c:v>9.5954999999999999E-3</c:v>
                </c:pt>
                <c:pt idx="13">
                  <c:v>1.3615E-2</c:v>
                </c:pt>
                <c:pt idx="14">
                  <c:v>1.8807999999999998E-2</c:v>
                </c:pt>
                <c:pt idx="15">
                  <c:v>2.538E-2</c:v>
                </c:pt>
                <c:pt idx="16">
                  <c:v>3.3547E-2</c:v>
                </c:pt>
                <c:pt idx="17">
                  <c:v>4.3535999999999998E-2</c:v>
                </c:pt>
                <c:pt idx="18">
                  <c:v>5.5580999999999998E-2</c:v>
                </c:pt>
                <c:pt idx="19">
                  <c:v>6.9920999999999997E-2</c:v>
                </c:pt>
                <c:pt idx="20">
                  <c:v>8.6799000000000001E-2</c:v>
                </c:pt>
                <c:pt idx="21">
                  <c:v>0.10646</c:v>
                </c:pt>
                <c:pt idx="22">
                  <c:v>0.12914999999999999</c:v>
                </c:pt>
                <c:pt idx="23">
                  <c:v>0.15512000000000001</c:v>
                </c:pt>
                <c:pt idx="24">
                  <c:v>0.18461</c:v>
                </c:pt>
                <c:pt idx="25">
                  <c:v>0.21786</c:v>
                </c:pt>
                <c:pt idx="26">
                  <c:v>0.25513000000000002</c:v>
                </c:pt>
                <c:pt idx="27">
                  <c:v>0.29665000000000002</c:v>
                </c:pt>
                <c:pt idx="28">
                  <c:v>0.34266999999999997</c:v>
                </c:pt>
                <c:pt idx="29">
                  <c:v>0.39343</c:v>
                </c:pt>
                <c:pt idx="30">
                  <c:v>0.44917000000000001</c:v>
                </c:pt>
                <c:pt idx="31">
                  <c:v>0.51014000000000004</c:v>
                </c:pt>
                <c:pt idx="32">
                  <c:v>0.57659000000000005</c:v>
                </c:pt>
                <c:pt idx="33">
                  <c:v>0.64876</c:v>
                </c:pt>
                <c:pt idx="34">
                  <c:v>0.72692000000000001</c:v>
                </c:pt>
                <c:pt idx="35">
                  <c:v>0.81133</c:v>
                </c:pt>
                <c:pt idx="36">
                  <c:v>0.90225999999999995</c:v>
                </c:pt>
                <c:pt idx="37">
                  <c:v>1</c:v>
                </c:pt>
                <c:pt idx="38">
                  <c:v>1.1048</c:v>
                </c:pt>
                <c:pt idx="39">
                  <c:v>1.2171000000000001</c:v>
                </c:pt>
                <c:pt idx="40">
                  <c:v>1.3371</c:v>
                </c:pt>
                <c:pt idx="41">
                  <c:v>1.4653</c:v>
                </c:pt>
                <c:pt idx="42">
                  <c:v>1.6019000000000001</c:v>
                </c:pt>
                <c:pt idx="43">
                  <c:v>1.7474000000000001</c:v>
                </c:pt>
                <c:pt idx="44">
                  <c:v>1.9021999999999999</c:v>
                </c:pt>
                <c:pt idx="45">
                  <c:v>2.0668000000000002</c:v>
                </c:pt>
                <c:pt idx="46">
                  <c:v>2.2418</c:v>
                </c:pt>
                <c:pt idx="47">
                  <c:v>2.4277000000000002</c:v>
                </c:pt>
                <c:pt idx="48">
                  <c:v>2.6251000000000002</c:v>
                </c:pt>
                <c:pt idx="49">
                  <c:v>2.8348</c:v>
                </c:pt>
                <c:pt idx="50">
                  <c:v>3.0575999999999999</c:v>
                </c:pt>
                <c:pt idx="51">
                  <c:v>3.2942</c:v>
                </c:pt>
                <c:pt idx="52">
                  <c:v>3.5457000000000001</c:v>
                </c:pt>
                <c:pt idx="53">
                  <c:v>3.8132999999999999</c:v>
                </c:pt>
                <c:pt idx="54">
                  <c:v>4.0980999999999996</c:v>
                </c:pt>
                <c:pt idx="55">
                  <c:v>4.4016999999999999</c:v>
                </c:pt>
                <c:pt idx="56">
                  <c:v>4.7256999999999998</c:v>
                </c:pt>
                <c:pt idx="57">
                  <c:v>5.0720999999999998</c:v>
                </c:pt>
                <c:pt idx="58">
                  <c:v>5.4432</c:v>
                </c:pt>
                <c:pt idx="59">
                  <c:v>5.8415999999999997</c:v>
                </c:pt>
                <c:pt idx="60">
                  <c:v>6.2706999999999997</c:v>
                </c:pt>
                <c:pt idx="61">
                  <c:v>6.7342000000000004</c:v>
                </c:pt>
                <c:pt idx="62">
                  <c:v>7.2370000000000001</c:v>
                </c:pt>
                <c:pt idx="63">
                  <c:v>7.7850000000000001</c:v>
                </c:pt>
                <c:pt idx="64">
                  <c:v>8.3856000000000002</c:v>
                </c:pt>
                <c:pt idx="65">
                  <c:v>9.0484000000000009</c:v>
                </c:pt>
              </c:numCache>
            </c:numRef>
          </c:cat>
          <c:val>
            <c:numRef>
              <c:f>Sheet1!$B$1:$B$75</c:f>
              <c:numCache>
                <c:formatCode>General</c:formatCode>
                <c:ptCount val="75"/>
                <c:pt idx="0">
                  <c:v>0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14</c:v>
                </c:pt>
                <c:pt idx="22">
                  <c:v>14</c:v>
                </c:pt>
                <c:pt idx="23">
                  <c:v>14</c:v>
                </c:pt>
                <c:pt idx="24">
                  <c:v>26</c:v>
                </c:pt>
                <c:pt idx="25">
                  <c:v>26</c:v>
                </c:pt>
                <c:pt idx="26">
                  <c:v>26</c:v>
                </c:pt>
                <c:pt idx="27">
                  <c:v>26</c:v>
                </c:pt>
                <c:pt idx="28">
                  <c:v>38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194</c:v>
                </c:pt>
                <c:pt idx="33">
                  <c:v>194</c:v>
                </c:pt>
                <c:pt idx="34">
                  <c:v>194</c:v>
                </c:pt>
                <c:pt idx="35">
                  <c:v>194</c:v>
                </c:pt>
                <c:pt idx="36">
                  <c:v>194</c:v>
                </c:pt>
                <c:pt idx="37">
                  <c:v>302</c:v>
                </c:pt>
                <c:pt idx="38">
                  <c:v>302</c:v>
                </c:pt>
                <c:pt idx="39">
                  <c:v>302</c:v>
                </c:pt>
                <c:pt idx="40">
                  <c:v>302</c:v>
                </c:pt>
                <c:pt idx="41">
                  <c:v>302</c:v>
                </c:pt>
                <c:pt idx="42">
                  <c:v>292</c:v>
                </c:pt>
                <c:pt idx="43">
                  <c:v>288</c:v>
                </c:pt>
                <c:pt idx="44">
                  <c:v>284</c:v>
                </c:pt>
                <c:pt idx="45">
                  <c:v>268</c:v>
                </c:pt>
                <c:pt idx="46">
                  <c:v>264</c:v>
                </c:pt>
                <c:pt idx="47">
                  <c:v>260</c:v>
                </c:pt>
                <c:pt idx="48">
                  <c:v>256</c:v>
                </c:pt>
                <c:pt idx="49">
                  <c:v>256</c:v>
                </c:pt>
                <c:pt idx="50">
                  <c:v>250</c:v>
                </c:pt>
                <c:pt idx="51">
                  <c:v>154</c:v>
                </c:pt>
                <c:pt idx="52">
                  <c:v>154</c:v>
                </c:pt>
                <c:pt idx="53">
                  <c:v>154</c:v>
                </c:pt>
                <c:pt idx="54">
                  <c:v>150</c:v>
                </c:pt>
                <c:pt idx="55">
                  <c:v>142</c:v>
                </c:pt>
                <c:pt idx="56">
                  <c:v>142</c:v>
                </c:pt>
                <c:pt idx="57">
                  <c:v>142</c:v>
                </c:pt>
                <c:pt idx="58">
                  <c:v>142</c:v>
                </c:pt>
                <c:pt idx="59">
                  <c:v>140</c:v>
                </c:pt>
                <c:pt idx="60">
                  <c:v>134</c:v>
                </c:pt>
                <c:pt idx="61">
                  <c:v>34</c:v>
                </c:pt>
                <c:pt idx="62">
                  <c:v>34</c:v>
                </c:pt>
                <c:pt idx="63">
                  <c:v>34</c:v>
                </c:pt>
                <c:pt idx="64">
                  <c:v>18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41-224B-9FB8-92549B48B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8975599"/>
        <c:axId val="176755216"/>
      </c:lineChart>
      <c:dateAx>
        <c:axId val="1388975599"/>
        <c:scaling>
          <c:orientation val="minMax"/>
        </c:scaling>
        <c:delete val="1"/>
        <c:axPos val="b"/>
        <c:numFmt formatCode="0.00E+00" sourceLinked="1"/>
        <c:majorTickMark val="none"/>
        <c:minorTickMark val="in"/>
        <c:tickLblPos val="nextTo"/>
        <c:crossAx val="176755216"/>
        <c:crosses val="autoZero"/>
        <c:auto val="0"/>
        <c:lblOffset val="100"/>
        <c:baseTimeUnit val="days"/>
      </c:dateAx>
      <c:valAx>
        <c:axId val="17675521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crossAx val="1388975599"/>
        <c:crosses val="autoZero"/>
        <c:crossBetween val="midCat"/>
      </c:valAx>
      <c:spPr>
        <a:noFill/>
        <a:ln>
          <a:noFill/>
        </a:ln>
        <a:effectLst/>
      </c:spPr>
    </c:plotArea>
    <c:plotVisOnly val="0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0.3573</cdr:x>
      <cdr:y>0.88037</cdr:y>
    </cdr:from>
    <cdr:to>
      <cdr:x>0.71363</cdr:x>
      <cdr:y>1</cdr:y>
    </cdr:to>
    <cdr:sp macro="" textlink="">
      <cdr:nvSpPr>
        <cdr:cNvPr id="2" name="文本框 1">
          <a:extLst xmlns:a="http://schemas.openxmlformats.org/drawingml/2006/main">
            <a:ext uri="{FF2B5EF4-FFF2-40B4-BE49-F238E27FC236}">
              <a16:creationId xmlns:a16="http://schemas.microsoft.com/office/drawing/2014/main" id="{510205A6-D79A-DA5D-9E06-669C1E908EF0}"/>
            </a:ext>
          </a:extLst>
        </cdr:cNvPr>
        <cdr:cNvSpPr txBox="1"/>
      </cdr:nvSpPr>
      <cdr:spPr>
        <a:xfrm xmlns:a="http://schemas.openxmlformats.org/drawingml/2006/main">
          <a:off x="1361267" y="2242918"/>
          <a:ext cx="1357599" cy="30479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zh-CN" altLang="en-US" sz="1100" dirty="0"/>
        </a:p>
      </cdr:txBody>
    </cdr: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7:48:46.8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3104 24575,'8'0'0,"-3"-4"0,2 3 0,-6-7 0,6 7 0,-2-7 0,3 7 0,1-7 0,21-10 0,-16 10 0,49-36 0,-47 37-6784,66-45 6784,-63 42-2269,30-16 1,2-1 2268,-30 11-1517,34-12 0,1-1 1517,-35 14-1015,30-11 1,-2-1 1014,-34 13 0,31-17 0,0 0 0,-30 18 547,28-21 0,1 0-547,-28 22 0,28-24 0,0-1 0,-26 18 0,27-22 0,1 1 0,-29 26 282,27-30 1,-1-1-283,-25 29-606,22-32 0,-1-1 606,-23 33 0,22-34 0,0-1 0,-21 34 0,26-36 0,1-3 0,-26 29 137,26-26 0,-1 0-137,-27 29 0,26-29 0,0 0 0,-25 31 0,21-27 0,0 1 0,-23 30 0,47-64 0,-48 64-721,45-59 721,-46 64 0,50-68 0,-53 66 1014,25-29 1,6-5-1015,-2 0 0,11-11 0,23-17 0,-59 57 2570,33-29-2570,-39 40 0,-1 0 4307,0 4-4307,-3-3 6441,2 7-6441,-6-7 0,6 7 0,-6-7 0,10 3 0,-9-4 0,35-20 0,-26 19 0,45-39 0,-46 39-5747,38-31 5747,-39 29-4537,36-29 4537,-32 31-3034,39-38 3034,-37 38-989,44-44 989,-44 39 0,41-38 0,-42 43 0,16-22 2544,-21 30-2544,25-30 0,-23 21 0,55-46 0,-53 45 0,54-44 0,-56 46 0,47-35 0,-47 31 0,45-23 0,-42 25 0,39-17 0,-43 18 0,41-10 0,-41 11 0,35-3 0,-33 8 3805,7-3-3805,18-1 0,-25 3 0,63-6 0,-58 11 0,57-3 0,-58 4 0,44 0 0,-47 0 0,40 3 0,-39-2 0,38 7 0,-38-3 0,42 4 0,-42 0 0,39 4 0,-40-7 0,32 10 0,-33-14 5688,37 17-5688,-17-4 0,3 4 0,17 10 0,-37-21 0,34 23 0,-37-27 0,29 32 0,-28-31 0,25 26 0,-27-24 0,22 22 0,-24-17 0,31 24 0,-31-27 3307,14 15-3307,-1-3 0,5 11 0,1-6 0,-6 2 0,0-8 0,-6 9 0,9-4 0,2 18 0,-16-33 0,19 39 0,-19-40 0,23 47 0,-22-44 0,25 44 0,-28-42 0,27 46 0,-27-43 0,28 55 0,-28-55 0,27 55 0,-27-59 0,10 26 0,10 10 0,-19-30 0,28 58 0,-28-63 0,20 51 0,-14-41-6784,34 62 6784,-36-58-1296,20 20 1,-2 0 1295,-19-24 0,47 61 0,-47-68-3678,35 58 3678,-34-61-423,35 62 423,-36-55 0,32 48 0,-32-45 0,35 41 0,-34-41 3468,42 49-3468,-19-20 2443,-1 0-2443,19 19 6398,-48-55-6398,52 55 0,-52-56 1167,26 25-1167,-6-4 0,-13-22 0,42 58 0,-42-52 0,46 57 0,-45-54 0,44 49 0,-48-52 0,48 51 0,-44-51 0,42 48 0,-40-49 0,36 44 0,-40-48 0,36 48 0,-32-44 0,25 37 0,-5-15 0,-12-7 0,16 5 0,-38-29 0,27 21 0,-23-19 0,23 24 0,-19-29 0,5 12 0,-1-8 0,-9-1 0,21 22 0,-16-24 0,19 30 0,-19-30 0,27 36 0,-25-35 0,24 33 0,-26-38 0,23 31 0,-26-29 0,25 30 0,-25-28 0,22 30 0,-19-30 0,27 32 0,-3-5 0,-3-9 0,5 13 0,-26-33 0,23 25 0,-22-23 0,19 19 0,-26-22 0,17 14 0,-14-9 0,26 18 0,-26-17 0,18 5 0,-25-9 0,10-7 0,-6 6 0,25 10 0,-20-5 0,27 13 0,-30-19 0,23 13 0,-18-16 0,25 25 0,-25-24 0,26 28 0,-26-28 0,26 19 0,-27-17 0,23 11 0,-23-11 0,31 18 0,-28-20 0,31 19 0,-34-17 0,27 7 0,-26-4 0,40 8 0,-36-6 0,36 6 0,-43-9 0,46 9 0,-42-10 0,39 9 0,-45-11 0,37 4 0,-36 0 0,43 0 0,-42-4 0,33 6 0,-30-9 0,25 10 0,-25-11 0,26 7 0,-26-7 0,25 7 0,-25-7 0,22 7 0,-23-7 0,16 7 0,-17-7 0,13 7 0,-13-7 0,6 3 0,-1-4 0,-5 0 0,21 0 0,-5 4 0,1-3 0,3 3 0,-16-4 0,14 0 0,-14 0 0,17 0 0,-20 0 0,15 0 0,-16 0 0,17 0 0,-16 0 0,16 3 0,-17-2 0,16 3 0,-15-4 0,23 0 0,-22 0 0,18 4 0,-19-3 0,19 3 0,-18-4 0,14 0 0,-16 0 0,16 0 0,-14 0 0,18 0 0,-19 0 0,19 0 0,-18 0 0,22 0 0,-23 0 0,23 0 0,-22-4 0,18 3 0,-20-7 0,17 3 0,-16 0 0,19-7 0,-19 6 0,27-11 0,-25 11 0,10-6 0,-1 7 0,1-4 0,3 4 0,8-7 0,-23 6 0,19-11 0,-19 11 0,27-15 0,-25 14 0,21-10 0,-24 12 0,13-11 0,-13 13 0,13-13 0,-13 11 0,17-8 0,-20 3 0,19-3 0,-23 4 0,22-4 0,-21 3 0,25-7 0,-21 11 0,15-6 0,-18 7 0,14 0 0,-17-4 0,20 4 0,-15 0 0,8 1 0,-6 0 0,-1 3 0,0-3 0,0 0 0,8-1 0,-6 0 0,13-3 0,-13 7 0,9-7 0,-9 7 0,2-3 0,-4 4 0,0 0 0,0 0 0,1-4 0,-1 3 0,0-3 0,0 4 0,4 0 0,-2 0 0,5 0 0,-6 0 0,3 0 0,-4 0 0,4 0 0,-2 0 0,2 0 0,-4 4 0,4-3 0,-3 7 0,7-7 0,-11 7 0,6-7 0,-6 7 0,7-3 0,-3 0 0,6 3 0,-9-4 0,9 5 0,-14 0 0,10-4 0,1 7 0,-2-10 0,10 14 0,-4-6 0,-2 4 0,5 2 0,-9-10 0,5 6 0,-9-7 0,5 0 0,-3 3 0,5 1 0,0-3 0,-1 6 0,-8-7 0,7 3 0,-9 1 0,16 4 0,-11-3 0,12 3 0,-13-4 0,5-4 0,-7 7 0,4-10 0,1 9 0,-1-6 0,0 4 0,1-4 0,-5 3 0,7-3 0,-5 4 0,9 4 0,-6-7 0,7 10 0,-7-14 0,7 9 0,-11-6 0,14 8 0,-13-7 0,13 10 0,-9-14 0,5 10 0,-6-11 0,7 11 0,-7-10 0,3 9 0,-4-10 0,4 11 0,-3-10 0,11 14 0,-10-14 0,13 14 0,-13-14 0,13 14 0,-13-14 0,13 13 0,-13-13 0,9 10 0,-10-11 0,7 7 0,-7-7 0,11 11 0,-10-10 0,16 10 0,-15-11 0,16 7 0,-17-7 0,17 11 0,-16-10 0,19 9 0,-19-10 0,16 7 0,-17-7 0,9 7 0,-10-7 0,10 7 0,-8-7 0,19 7 0,-18-7 0,14 3 0,-20 0 0,16-3 0,-15 3 0,24 0 0,-20-3 0,8 3 0,-11-4 0,0 4 0,1-3 0,6 3 0,-5-4 0,17 0 0,-20 4 0,30 1 0,-28-1 0,22 0 0,-22-4 0,14 0 0,-12 0 0,15 4 0,-16-3 0,21 3 0,-19-4 0,29 4 0,-28-3 0,17 7 0,-21-7 0,14 3 0,-12-4 0,12 0 0,-14 0 0,11 4 0,-10-3 0,13 3 0,-13-4 0,6 0 0,-8 0 0,4 0 0,-3 0 0,3 0 0,-4 0 0,-7 0 0,2-4 0,-11 3 0,7-3 0,-2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6:59:55.3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1568 432 24575,'-4'9'0,"2"0"0,-6 1 0,7-1 0,-7-4 0,-19 24 0,17-19 0,-32 33 0,34-31 0,-23 14 0,24-16 0,-23 12 0,22-15 0,-31 18 0,26-22 0,-9 13 0,1-6 0,-9 4 0,3-4 0,-24 7 0,36-15 0,-11 10 0,-4-7 0,20 1 0,-46 6 0,40-10 0,-43 10 0,43-11 0,-44 4 0,44-5 0,-48 4 0,48-3 0,-48 3 0,44-4 0,-41 0 0,41 0 0,-36 0 0,42 0 0,-34-4 0,14-2 0,2 1 0,-15-7 0,29 9 0,-30-13 0,21 9 0,-14-10 0,21 10 0,-11-10 0,19 15 0,-23-19 0,23 18 0,-23-22 0,22 22 0,-9-14 0,17 12 0,-3-5 0,2 5 0,-3-7 0,0 5 0,3-11 0,-2 12 0,7-11 0,-3 11 0,0-12 0,-2 12 0,1-11 0,1 11 0,0-12 0,3 8 0,-4-8 0,5 7 0,0-7 0,0 8 0,0-12 0,0 10 0,5-6 0,-4 9 0,7-5 0,-7 4 0,11-8 0,-6 8 0,12-17 0,-8 19 0,8-21 0,-8 21 0,16-14 0,-18 12 0,25-12 0,-25 10 0,22-10 0,-18 12 0,9-4 0,-10 9 0,10-8 0,-9 11 0,5-15 0,-7 15 0,3-10 0,-3 6 0,8 1 0,-8 1 0,4 0 0,-5 3 0,0-8 0,0 8 0,5-7 0,-4 7 0,4-3 0,-5 4 0,8-5 0,-5 4 0,5-3 0,-8 4 0,9-4 0,-7 3 0,15-3 0,-15 4 0,15 0 0,-14 0 0,13 0 0,-13 0 0,9 0 0,-10 0 0,10 0 0,-9 0 0,14 0 0,-15 0 0,6 0 0,-7 0 0,-1 0 0,0 0 0,1 0 0,11 0 0,-8 0 0,16 0 0,-21 4 0,25-3 0,-24 3 0,29 0 0,-26-3 0,23 3 0,-27 0 0,17-3 0,-19 4 0,15-5 0,-9 0 0,5 0 0,-7 4 0,3-3 0,-3 3 0,8 0 0,-8-3 0,3 3 0,-3-4 0,3 4 0,-2-3 0,10 8 0,-9-8 0,5 7 0,-8-7 0,1 3 0,-5 0 0,3-3 0,-3 3 0,0 0 0,4-3 0,0 12 0,1-7 0,12 11 0,-11-6 0,3 2 0,-6-8 0,-3 4 0,4-4 0,1 4 0,-1-4 0,-4 3 0,7-2 0,-10 3 0,15 0 0,-11 5 0,3-4 0,0-1 0,-8-1 0,3-2 0,0-1 0,-3 3 0,3-3 0,-4 4 0,0 1 0,0-1 0,0-4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7:00:07.1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96 24575,'10'0'0,"-1"0"0,0 0 0,1 0 0,-1 0 0,-4 4 0,3-2 0,-3 2 0,5-4 0,-5 4 0,3-3 0,-7 7 0,7-7 0,-2 3 0,-1 0 0,3-3 0,-7 8 0,7-8 0,-3 3 0,1 0 0,2-3 0,-7 7 0,7-7 0,-3 3 0,5-4 0,-5 4 0,3-3 0,-3 8 0,4-8 0,-3 7 0,2-7 0,-3 3 0,4-4 0,-4 4 0,4-3 0,-8-1 0,7-5 0,-3-4 0,0-1 0,3 5 0,-7-4 0,8 8 0,-8-7 0,7 3 0,-7-5 0,3 1 0,0 4 0,-3-4 0,8 8 0,-8-7 0,3 3 0,-4-5 0,4 5 0,-3-3 0,7 6 0,-7-6 0,3 3 0,-4-5 0,0 1 0,4 4 0,-3-4 0,8 8 0,-8-7 0,7 7 0,-7-8 0,3 8 0,-4-3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8CDCCB4-0DEB-4BBF-B5A2-5036A5B18D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383C0EA-6DE3-4350-BBF6-CB363A59FF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556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831598C-0C0C-4FF1-AA8D-B6A5AC31D66D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31891A8-C3DA-488B-8365-EB7635FB4617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BFB4E47-0DF7-46E9-9B2F-54BB986ECB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D42EFABD-13C7-4A77-B958-E3DA6C1A0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200" b="0" noProof="1" dirty="0">
                <a:cs typeface="+mn-ea"/>
              </a:defRPr>
            </a:lvl1pPr>
          </a:lstStyle>
          <a:p>
            <a:fld id="{F5D20F6A-2519-4A3A-B3A3-B9E416443C42}" type="slidenum">
              <a:rPr lang="en-US" altLang="x-none"/>
              <a:pPr/>
              <a:t>‹#›</a:t>
            </a:fld>
            <a:endParaRPr lang="en-US" altLang="x-none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1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59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5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815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F5DA6-452B-5B58-617B-E3257593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BA920E-1C32-E919-272F-DCD5FAF58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5B894E-B735-62C6-4D1A-2CC2461BE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B9D106-B883-82F9-48A8-A455358D8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6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315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7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62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8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879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板书变成</a:t>
            </a:r>
            <a:r>
              <a:rPr kumimoji="1" lang="en-US" altLang="zh-CN"/>
              <a:t>ppt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13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09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B49A-9AD7-EDFB-CD83-70EF630D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C0D596-1975-5477-1257-0A094EA5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28D94A-7C8B-6511-3368-D05F1ABBA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板书变成</a:t>
            </a:r>
            <a:r>
              <a:rPr kumimoji="1" lang="en-US" altLang="zh-CN"/>
              <a:t>ppt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CF596-06E9-915B-1F2B-D5456A286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14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88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查看程序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0F6A-2519-4A3A-B3A3-B9E416443C42}" type="slidenum">
              <a:rPr lang="en-US" altLang="x-none" smtClean="0"/>
              <a:pPr/>
              <a:t>15</a:t>
            </a:fld>
            <a:endParaRPr lang="en-US" altLang="x-none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329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4599F6D-8F15-43A0-A034-ECF7FD06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F04FC55-CB0C-4EC9-BF70-15A51D80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962584D-A0D9-420E-BAD7-2A7FF2E8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69802D-2D4C-4546-9A37-18E5C56E45CE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1065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E438AC9-AC13-4D94-B438-C1FA102E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BDC5AFF-1419-40BE-A57D-6202B75C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91AA838-B570-4067-AB46-2EDCA83A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A347F5-8B39-4DAA-9D8E-D27DBCD5515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9585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B2F916-3AA9-4845-8FCB-6F38029A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DF8C237-55D4-4F7E-AD0B-C4C4FA80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02CA84E-C8DD-4924-8C74-FF2B5ED6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0057FE-DF43-4D87-8539-C52649E4E50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70824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3152" cy="4419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248" y="1600200"/>
            <a:ext cx="3883152" cy="4419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AC2BF85-1951-460B-94F8-EC364234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C5D163B-AFD2-4736-A5B6-31925B8C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6C23A43-4381-42C5-A783-BFF96C9E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36F440-5258-4E3F-8AAC-ECA7333E01A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50441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9A6A6A-8B9A-4655-AFD3-D05C8892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80E54FF-441C-44B2-AD1F-CDDC91AD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F0EBEA3-D3DB-402D-A107-D6D5C02D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02FC70-87D0-48EE-A578-769E836E218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70991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2E5F4456-37DA-401C-8769-56B95471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275CF2A-B82B-4A8E-8B2E-F1762445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DBBA943A-123C-4676-8F98-2FF15779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48BB53-8E3E-4EB7-BD6C-8CA28331886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0823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EF002E4E-EF54-4C46-AD23-C564B20C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98BCB76-DEFA-451A-8FB9-344C6DBB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308F069-B87C-4E19-BD59-52AFBA73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9AAAF8-DD88-4789-81F8-3D126CE4BFD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8943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75803DB-5673-4ED0-852F-744E36E5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E0A2DE2-5754-48C1-8A43-7CB554BF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639AEFE-436F-49D8-8362-7741B86D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660E4C-2CA9-497A-9643-E2B7C150D82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16731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E1FC217-24FB-41A8-8BAD-151A656C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13FD369-8CCC-4839-9AFF-E555DE24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733AEEB-C248-4CEF-B2C2-F80576C6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D9BF5D-EB09-4A52-825C-E5797359E87B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4342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165C585-12A3-403A-9B13-B2F4A41A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8C89D9C-0805-4652-8FE3-51306ED8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0B019CE-8523-44A4-A34B-C5730091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BCC9A-297A-44F7-82E1-A2A26264177D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2145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9616" y="228600"/>
            <a:ext cx="2084784" cy="5791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3496" cy="5791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64ABF13-9B01-4FFA-B70A-160AFEE9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E69219A-26AC-4E2D-B02C-3ACC1786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64537B5-06C3-4B05-9562-AC3677A8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FC9E63-7F62-4327-8D2C-E2C59190CD4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65440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43413DA-A1D5-4411-A1C2-98A12629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1BB658F-2465-474A-A250-9110361C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F5A50BF-CAC6-4AC3-9021-D93EF462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986424-F888-460E-AD1E-C44FCE7F904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39585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B0114757-568C-4246-95CB-24AFF8ED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60E4F0A3-BDAC-4A2B-9845-C1AB220C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DF2CAC1-F774-4874-965F-CBF9EA9C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E0D23-C7D0-49A2-AAFD-40F98191A4DB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36784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ED00C02-D33A-4576-873A-1EDC79AE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47DC94F-81DC-47A9-9F04-CFD203D6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072E0E3-91F2-4F35-A756-60359980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4978B1-7A8E-44DF-8936-628E1C928EA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86360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3152" cy="4419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248" y="1600200"/>
            <a:ext cx="3883152" cy="4419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C36AF6C-E8CC-4C1E-B13F-F3DE2E31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5C79C18-F3B9-4D98-8BAC-BE5DCBD6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0AD418A-50CE-43DA-96EC-4FF2A0ECB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275B6F-4802-4C65-A0EB-AA93C8517134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184163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174D03F-50A3-4153-85A1-0A6D358B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D6BD2B6-8C49-4C89-99C6-7CA34919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500F667-35F1-412D-8B0D-FB7FB8E4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68CE5C-B628-4E17-A231-5119DA0A2E7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26838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2C7F53B-9D5B-4678-892B-B7C83CAF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21F0874-9854-4E75-A6DB-C6488053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0EFBCC1-74BC-4790-8717-8C51751A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FA87A0-AD16-468E-A51E-A00F2CAF80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21164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EBF95F57-C1D7-4B65-9AC2-0BE07466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FEFCDF36-C0BC-45C0-8FFD-E78B39CE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931B09E-0B49-4FC7-805F-CE56B406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529C55-F427-400D-85D8-6F2A66845270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8972862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2B332EF-8E31-4680-8CA8-50267019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0929BB0-28A5-4167-B425-C679A6C1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3B5CD8E-BF9D-4296-9916-071CA23F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C341CF-8F6C-4252-9F47-AA9AE40A89B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56871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F6AF51B-733A-455C-A52A-5597B2BF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BAF7A7E-FBC6-43F7-B2A0-70CE6E54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46A02E6-EA13-44ED-8F42-CBA7FE70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7EEA9-1F1B-4C9F-98EE-41DC57876AC0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89227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2AB2EE6-B426-4C3C-BB7F-D4C41F9E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C79CFFB-6320-4D73-971A-3ECD971C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B99DDCD-572E-4576-9E03-05C59178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CA47F8-9A9B-43BF-97C9-2E03878121D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86226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9616" y="228600"/>
            <a:ext cx="2084784" cy="5791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3496" cy="5791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6A6845A-B8BB-4326-808D-E90B6266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6794B337-E802-497F-871B-3DE2EA5E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A7853B3-8246-44ED-921A-691397E4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F6753F-4C9A-4043-B15D-0BB24A8586A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4959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22018EB3-DFF2-4869-90A1-7892486B9DF1}"/>
              </a:ext>
            </a:extLst>
          </p:cNvPr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0"/>
            <a:chExt cx="5472" cy="3840"/>
          </a:xfrm>
        </p:grpSpPr>
        <p:sp>
          <p:nvSpPr>
            <p:cNvPr id="1027" name="AutoShape 3">
              <a:extLst>
                <a:ext uri="{FF2B5EF4-FFF2-40B4-BE49-F238E27FC236}">
                  <a16:creationId xmlns:a16="http://schemas.microsoft.com/office/drawing/2014/main" id="{6136B741-CA5F-4705-BB23-9D98CAB0C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40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28" name="AutoShape 4">
              <a:extLst>
                <a:ext uri="{FF2B5EF4-FFF2-40B4-BE49-F238E27FC236}">
                  <a16:creationId xmlns:a16="http://schemas.microsoft.com/office/drawing/2014/main" id="{8A42054A-5726-4E3B-9729-309373E5C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6499 w 7000"/>
                <a:gd name="T3" fmla="*/ 0 h 1000"/>
                <a:gd name="T4" fmla="*/ 7000 w 7000"/>
                <a:gd name="T5" fmla="*/ 500 h 1000"/>
                <a:gd name="T6" fmla="*/ 6500 w 7000"/>
                <a:gd name="T7" fmla="*/ 1000 h 1000"/>
                <a:gd name="T8" fmla="*/ 0 w 7000"/>
                <a:gd name="T9" fmla="*/ 1000 h 1000"/>
                <a:gd name="T10" fmla="*/ 0 w 7000"/>
                <a:gd name="T11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9" name="Line 5">
              <a:extLst>
                <a:ext uri="{FF2B5EF4-FFF2-40B4-BE49-F238E27FC236}">
                  <a16:creationId xmlns:a16="http://schemas.microsoft.com/office/drawing/2014/main" id="{093BD0B0-6BB8-42BF-B7CE-D51BD02A3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72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748A0-C39C-4096-A044-FE24BFF95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52EACD5-8F40-49AA-9677-DB84D6FF094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1AFB3E1-8EF2-48C9-A58E-AC4975D76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95791A6-2310-448C-A3B7-F7881D34D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346C587B-5A55-4448-A396-058C1793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200" b="0" noProof="1" dirty="0">
                <a:latin typeface="Arial Black" panose="020B0A04020102020204" pitchFamily="2" charset="0"/>
                <a:cs typeface="+mn-ea"/>
              </a:defRPr>
            </a:lvl1pPr>
          </a:lstStyle>
          <a:p>
            <a:fld id="{4D0BC078-633C-4690-8281-A5277777FA47}" type="slidenum">
              <a:rPr lang="en-US" altLang="x-none"/>
              <a:pPr/>
              <a:t>‹#›</a:t>
            </a:fld>
            <a:endParaRPr lang="en-US" altLang="x-none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3" r:id="rId2"/>
    <p:sldLayoutId id="2147483732" r:id="rId3"/>
    <p:sldLayoutId id="2147483731" r:id="rId4"/>
    <p:sldLayoutId id="2147483730" r:id="rId5"/>
    <p:sldLayoutId id="2147483729" r:id="rId6"/>
    <p:sldLayoutId id="2147483728" r:id="rId7"/>
    <p:sldLayoutId id="2147483727" r:id="rId8"/>
    <p:sldLayoutId id="2147483726" r:id="rId9"/>
    <p:sldLayoutId id="2147483725" r:id="rId10"/>
    <p:sldLayoutId id="214748372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2049">
            <a:extLst>
              <a:ext uri="{FF2B5EF4-FFF2-40B4-BE49-F238E27FC236}">
                <a16:creationId xmlns:a16="http://schemas.microsoft.com/office/drawing/2014/main" id="{8834E970-F86E-4E62-ADC6-0E786B2F5E09}"/>
              </a:ext>
            </a:extLst>
          </p:cNvPr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0"/>
            <a:chExt cx="5664" cy="2832"/>
          </a:xfrm>
        </p:grpSpPr>
        <p:sp>
          <p:nvSpPr>
            <p:cNvPr id="2051" name="AutoShape 3">
              <a:extLst>
                <a:ext uri="{FF2B5EF4-FFF2-40B4-BE49-F238E27FC236}">
                  <a16:creationId xmlns:a16="http://schemas.microsoft.com/office/drawing/2014/main" id="{51DCB4D2-1B4F-42F5-B5B2-7BD928E9E1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32" y="720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052" name="Rectangle 4">
              <a:extLst>
                <a:ext uri="{FF2B5EF4-FFF2-40B4-BE49-F238E27FC236}">
                  <a16:creationId xmlns:a16="http://schemas.microsoft.com/office/drawing/2014/main" id="{82774182-B3AA-4980-90FD-5EBCCF92EF3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0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053" name="AutoShape 5">
              <a:extLst>
                <a:ext uri="{FF2B5EF4-FFF2-40B4-BE49-F238E27FC236}">
                  <a16:creationId xmlns:a16="http://schemas.microsoft.com/office/drawing/2014/main" id="{CE73B86B-3BAD-4D56-BAF5-3D6B8AC54E7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88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4416 w 4917"/>
                <a:gd name="T3" fmla="*/ 0 h 1000"/>
                <a:gd name="T4" fmla="*/ 4917 w 4917"/>
                <a:gd name="T5" fmla="*/ 500 h 1000"/>
                <a:gd name="T6" fmla="*/ 4417 w 4917"/>
                <a:gd name="T7" fmla="*/ 1000 h 1000"/>
                <a:gd name="T8" fmla="*/ 0 w 4917"/>
                <a:gd name="T9" fmla="*/ 1000 h 1000"/>
                <a:gd name="T10" fmla="*/ 0 w 4917"/>
                <a:gd name="T11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4" name="Line 6">
              <a:extLst>
                <a:ext uri="{FF2B5EF4-FFF2-40B4-BE49-F238E27FC236}">
                  <a16:creationId xmlns:a16="http://schemas.microsoft.com/office/drawing/2014/main" id="{FCB51EE8-9152-4C38-8F8D-604921E2B27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0" y="1344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en-US"/>
            </a:p>
          </p:txBody>
        </p:sp>
      </p:grpSp>
      <p:sp>
        <p:nvSpPr>
          <p:cNvPr id="2055" name="Rectangle 6">
            <a:extLst>
              <a:ext uri="{FF2B5EF4-FFF2-40B4-BE49-F238E27FC236}">
                <a16:creationId xmlns:a16="http://schemas.microsoft.com/office/drawing/2014/main" id="{541220F2-AF02-4622-B7EA-2F85E83BE3D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6" name="Rectangle 7">
            <a:extLst>
              <a:ext uri="{FF2B5EF4-FFF2-40B4-BE49-F238E27FC236}">
                <a16:creationId xmlns:a16="http://schemas.microsoft.com/office/drawing/2014/main" id="{A264742F-21DB-4813-8D31-513C156355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9C58759B-DA99-4C23-AE4F-3D0662214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AB88F0F0-A6A1-4ACD-8604-3FB0C55A9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200" b="0" noProof="1" dirty="0"/>
            </a:lvl1pPr>
          </a:lstStyle>
          <a:p>
            <a:endParaRPr lang="en-US" altLang="x-none"/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41955ED0-186F-4051-8F3B-21F43D89E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714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200" b="0" noProof="1" dirty="0">
                <a:latin typeface="Arial Black" panose="020B0A04020102020204" pitchFamily="2" charset="0"/>
                <a:cs typeface="+mn-ea"/>
              </a:defRPr>
            </a:lvl1pPr>
          </a:lstStyle>
          <a:p>
            <a:fld id="{2C06077D-2E02-46C6-8498-0E6C9E514D35}" type="slidenum">
              <a:rPr lang="en-US" altLang="x-none"/>
              <a:pPr/>
              <a:t>‹#›</a:t>
            </a:fld>
            <a:endParaRPr lang="en-US" altLang="x-none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4" r:id="rId2"/>
    <p:sldLayoutId id="2147483743" r:id="rId3"/>
    <p:sldLayoutId id="2147483742" r:id="rId4"/>
    <p:sldLayoutId id="2147483741" r:id="rId5"/>
    <p:sldLayoutId id="2147483740" r:id="rId6"/>
    <p:sldLayoutId id="2147483739" r:id="rId7"/>
    <p:sldLayoutId id="2147483738" r:id="rId8"/>
    <p:sldLayoutId id="2147483737" r:id="rId9"/>
    <p:sldLayoutId id="2147483736" r:id="rId10"/>
    <p:sldLayoutId id="214748373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3.png"/><Relationship Id="rId4" Type="http://schemas.openxmlformats.org/officeDocument/2006/relationships/customXml" Target="../ink/ink2.xml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16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8F157B9B-17A8-40D8-8C15-782AD4E68802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1427163"/>
            <a:ext cx="8077200" cy="1609725"/>
          </a:xfrm>
        </p:spPr>
        <p:txBody>
          <a:bodyPr/>
          <a:lstStyle/>
          <a:p>
            <a:pPr eaLnBrk="1" hangingPunct="1"/>
            <a:r>
              <a:rPr lang="zh-CN" altLang="en-US" sz="4400" dirty="0"/>
              <a:t>程序培训</a:t>
            </a:r>
            <a:r>
              <a:rPr lang="en-US" altLang="zh-CN" sz="4400" dirty="0"/>
              <a:t>-</a:t>
            </a:r>
            <a:r>
              <a:rPr lang="zh-CN" altLang="en-US" sz="4400" dirty="0"/>
              <a:t>数值积分</a:t>
            </a:r>
          </a:p>
        </p:txBody>
      </p:sp>
      <p:sp>
        <p:nvSpPr>
          <p:cNvPr id="4098" name="Rectangle 3">
            <a:extLst>
              <a:ext uri="{FF2B5EF4-FFF2-40B4-BE49-F238E27FC236}">
                <a16:creationId xmlns:a16="http://schemas.microsoft.com/office/drawing/2014/main" id="{E6185232-9B82-4B4C-9523-0C32B497EEC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4876793" y="3748089"/>
            <a:ext cx="2797182" cy="1204872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      </a:t>
            </a:r>
            <a:r>
              <a:rPr lang="zh-CN" altLang="en-US" sz="2800" dirty="0"/>
              <a:t>张 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6C91DC-593E-4A2A-AE78-17F9D2437A89}"/>
              </a:ext>
            </a:extLst>
          </p:cNvPr>
          <p:cNvSpPr txBox="1"/>
          <p:nvPr/>
        </p:nvSpPr>
        <p:spPr>
          <a:xfrm>
            <a:off x="2427333" y="5867336"/>
            <a:ext cx="3897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青岛理论与计算科学研究院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8CD8621-BA07-0635-4624-3088F8443472}"/>
                  </a:ext>
                </a:extLst>
              </p:cNvPr>
              <p:cNvSpPr txBox="1"/>
              <p:nvPr/>
            </p:nvSpPr>
            <p:spPr>
              <a:xfrm>
                <a:off x="959482" y="1443789"/>
                <a:ext cx="2893997" cy="1452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360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3600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kumimoji="1"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3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3600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</m:d>
                          <m:r>
                            <a:rPr kumimoji="1" lang="en-US" altLang="zh-CN" sz="3600" i="1"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3600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kumimoji="1" lang="zh-CN" altLang="en-US" sz="3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8CD8621-BA07-0635-4624-3088F844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482" y="1443789"/>
                <a:ext cx="2893997" cy="1452898"/>
              </a:xfrm>
              <a:prstGeom prst="rect">
                <a:avLst/>
              </a:prstGeom>
              <a:blipFill>
                <a:blip r:embed="rId2"/>
                <a:stretch>
                  <a:fillRect l="-34498" t="-153448" r="-1310" b="-2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8CCB71-3E69-9847-D7B6-62E82C539C7C}"/>
                  </a:ext>
                </a:extLst>
              </p:cNvPr>
              <p:cNvSpPr txBox="1"/>
              <p:nvPr/>
            </p:nvSpPr>
            <p:spPr>
              <a:xfrm>
                <a:off x="4091312" y="1622876"/>
                <a:ext cx="3195940" cy="1094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/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3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36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kumimoji="1"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kumimoji="1" lang="en-US" altLang="zh-CN" sz="3600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3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8CCB71-3E69-9847-D7B6-62E82C539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312" y="1622876"/>
                <a:ext cx="3195940" cy="1094723"/>
              </a:xfrm>
              <a:prstGeom prst="rect">
                <a:avLst/>
              </a:prstGeom>
              <a:blipFill>
                <a:blip r:embed="rId3"/>
                <a:stretch>
                  <a:fillRect l="-37698" t="-189773" r="-794" b="-26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3ADC0B-9DBC-4282-5267-482345650695}"/>
              </a:ext>
            </a:extLst>
          </p:cNvPr>
          <p:cNvGrpSpPr/>
          <p:nvPr/>
        </p:nvGrpSpPr>
        <p:grpSpPr>
          <a:xfrm>
            <a:off x="1009444" y="3048010"/>
            <a:ext cx="5305068" cy="3124118"/>
            <a:chOff x="1324278" y="3429000"/>
            <a:chExt cx="4992496" cy="2731661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E49502A-F17F-93CB-446F-DD4695D57DA2}"/>
                </a:ext>
              </a:extLst>
            </p:cNvPr>
            <p:cNvGrpSpPr/>
            <p:nvPr/>
          </p:nvGrpSpPr>
          <p:grpSpPr>
            <a:xfrm>
              <a:off x="1324278" y="3429000"/>
              <a:ext cx="4992496" cy="2731661"/>
              <a:chOff x="914496" y="3276604"/>
              <a:chExt cx="4495682" cy="2731661"/>
            </a:xfrm>
          </p:grpSpPr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CEFCDAEE-B7D2-2A16-891E-47A000D615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78" y="3276604"/>
                <a:ext cx="0" cy="228594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946E0C97-9834-AF6D-53FE-13CC374243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78" y="5562544"/>
                <a:ext cx="38099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42EB3AD1-93BD-DC45-057E-2240BC218CC4}"/>
                      </a:ext>
                    </a:extLst>
                  </p:cNvPr>
                  <p:cNvSpPr txBox="1"/>
                  <p:nvPr/>
                </p:nvSpPr>
                <p:spPr>
                  <a:xfrm>
                    <a:off x="3411452" y="5731266"/>
                    <a:ext cx="18755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oMath>
                      </m:oMathPara>
                    </a14:m>
                    <a:endParaRPr kumimoji="1" lang="zh-CN" altLang="en-US" dirty="0"/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42EB3AD1-93BD-DC45-057E-2240BC218C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1452" y="5731266"/>
                    <a:ext cx="18755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556" r="-5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C1568A5D-B01D-911D-97AA-06C2A142BBC3}"/>
                      </a:ext>
                    </a:extLst>
                  </p:cNvPr>
                  <p:cNvSpPr txBox="1"/>
                  <p:nvPr/>
                </p:nvSpPr>
                <p:spPr>
                  <a:xfrm>
                    <a:off x="914496" y="4142575"/>
                    <a:ext cx="50975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zh-CN" altLang="en-US" dirty="0"/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C1568A5D-B01D-911D-97AA-06C2A142BB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496" y="4142575"/>
                    <a:ext cx="509755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250" r="-6250" b="-230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7877CF05-1DDE-8691-CDDE-8223972F1179}"/>
                    </a:ext>
                  </a:extLst>
                </p14:cNvPr>
                <p14:cNvContentPartPr/>
                <p14:nvPr/>
              </p14:nvContentPartPr>
              <p14:xfrm>
                <a:off x="2075546" y="3946399"/>
                <a:ext cx="4117680" cy="156888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7877CF05-1DDE-8691-CDDE-8223972F11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69787" y="3941048"/>
                  <a:ext cx="4129199" cy="157958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FCB71BA5-9E90-F3D3-10B1-5F780B63BCD7}"/>
              </a:ext>
            </a:extLst>
          </p:cNvPr>
          <p:cNvGrpSpPr/>
          <p:nvPr/>
        </p:nvGrpSpPr>
        <p:grpSpPr>
          <a:xfrm>
            <a:off x="1832163" y="3624517"/>
            <a:ext cx="4420649" cy="2037853"/>
            <a:chOff x="1818670" y="3630385"/>
            <a:chExt cx="4420649" cy="2037853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522F8139-B077-49C1-B432-9274F7762B8C}"/>
                </a:ext>
              </a:extLst>
            </p:cNvPr>
            <p:cNvSpPr/>
            <p:nvPr/>
          </p:nvSpPr>
          <p:spPr>
            <a:xfrm flipH="1">
              <a:off x="1818670" y="4765067"/>
              <a:ext cx="86400" cy="90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557C21D-CB68-10E4-999D-754C75371B72}"/>
                </a:ext>
              </a:extLst>
            </p:cNvPr>
            <p:cNvSpPr/>
            <p:nvPr/>
          </p:nvSpPr>
          <p:spPr>
            <a:xfrm>
              <a:off x="5880275" y="5410792"/>
              <a:ext cx="86399" cy="23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1082385-C32F-DC2E-C19A-00A493015EA1}"/>
                </a:ext>
              </a:extLst>
            </p:cNvPr>
            <p:cNvSpPr/>
            <p:nvPr/>
          </p:nvSpPr>
          <p:spPr>
            <a:xfrm>
              <a:off x="2590830" y="3951539"/>
              <a:ext cx="61200" cy="1702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AACB33F-D167-E04C-1D13-3D268041DDE0}"/>
                </a:ext>
              </a:extLst>
            </p:cNvPr>
            <p:cNvSpPr/>
            <p:nvPr/>
          </p:nvSpPr>
          <p:spPr>
            <a:xfrm flipH="1">
              <a:off x="1905070" y="4702742"/>
              <a:ext cx="86400" cy="95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C970FC3-8F4E-CF24-DE11-FE6162366FA6}"/>
                </a:ext>
              </a:extLst>
            </p:cNvPr>
            <p:cNvSpPr/>
            <p:nvPr/>
          </p:nvSpPr>
          <p:spPr>
            <a:xfrm flipH="1">
              <a:off x="1981268" y="4648168"/>
              <a:ext cx="86400" cy="100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967AA350-7F03-0DFC-151A-E54CED845858}"/>
                </a:ext>
              </a:extLst>
            </p:cNvPr>
            <p:cNvSpPr/>
            <p:nvPr/>
          </p:nvSpPr>
          <p:spPr>
            <a:xfrm flipH="1">
              <a:off x="2062800" y="4585068"/>
              <a:ext cx="86399" cy="10667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977587A9-CA6F-9AF2-39A9-FE459ACCCA2D}"/>
                </a:ext>
              </a:extLst>
            </p:cNvPr>
            <p:cNvSpPr/>
            <p:nvPr/>
          </p:nvSpPr>
          <p:spPr>
            <a:xfrm flipH="1" flipV="1">
              <a:off x="6152919" y="5454123"/>
              <a:ext cx="86400" cy="19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F8AC2893-E140-00BB-1E86-5B1A183A48F6}"/>
                </a:ext>
              </a:extLst>
            </p:cNvPr>
            <p:cNvSpPr/>
            <p:nvPr/>
          </p:nvSpPr>
          <p:spPr>
            <a:xfrm flipH="1">
              <a:off x="2168420" y="4478324"/>
              <a:ext cx="86399" cy="1177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CFB8E218-52DF-552F-25D7-4F215ED49D5C}"/>
                </a:ext>
              </a:extLst>
            </p:cNvPr>
            <p:cNvSpPr/>
            <p:nvPr/>
          </p:nvSpPr>
          <p:spPr>
            <a:xfrm flipH="1">
              <a:off x="2275859" y="4355189"/>
              <a:ext cx="86399" cy="1296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DA0D1363-B778-10C8-E8BC-1D64995F8EEF}"/>
                </a:ext>
              </a:extLst>
            </p:cNvPr>
            <p:cNvSpPr/>
            <p:nvPr/>
          </p:nvSpPr>
          <p:spPr>
            <a:xfrm flipH="1">
              <a:off x="2384325" y="4247312"/>
              <a:ext cx="86399" cy="140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A204C0E-D7D8-439A-688F-332024A66E2D}"/>
                </a:ext>
              </a:extLst>
            </p:cNvPr>
            <p:cNvSpPr/>
            <p:nvPr/>
          </p:nvSpPr>
          <p:spPr>
            <a:xfrm flipH="1">
              <a:off x="2486366" y="4141229"/>
              <a:ext cx="86399" cy="1512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6FA3A03-118D-E257-A769-B0153F8E1304}"/>
                </a:ext>
              </a:extLst>
            </p:cNvPr>
            <p:cNvSpPr/>
            <p:nvPr/>
          </p:nvSpPr>
          <p:spPr>
            <a:xfrm flipH="1">
              <a:off x="3810280" y="4464000"/>
              <a:ext cx="86399" cy="118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91DADB1E-5171-949D-8517-21AD0C08F235}"/>
                </a:ext>
              </a:extLst>
            </p:cNvPr>
            <p:cNvSpPr/>
            <p:nvPr/>
          </p:nvSpPr>
          <p:spPr>
            <a:xfrm flipH="1">
              <a:off x="3905072" y="4592498"/>
              <a:ext cx="86399" cy="1054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01956F29-A7B3-6DF2-941E-9D88E69E4C97}"/>
                </a:ext>
              </a:extLst>
            </p:cNvPr>
            <p:cNvSpPr/>
            <p:nvPr/>
          </p:nvSpPr>
          <p:spPr>
            <a:xfrm flipH="1">
              <a:off x="4010274" y="4691078"/>
              <a:ext cx="86399" cy="961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436B0108-BEED-09A4-64CC-B1FFA5AF749E}"/>
                </a:ext>
              </a:extLst>
            </p:cNvPr>
            <p:cNvSpPr/>
            <p:nvPr/>
          </p:nvSpPr>
          <p:spPr>
            <a:xfrm flipH="1">
              <a:off x="4122044" y="4813438"/>
              <a:ext cx="86399" cy="838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56AA92FD-0E26-F71E-CBC0-389853427AA7}"/>
                </a:ext>
              </a:extLst>
            </p:cNvPr>
            <p:cNvSpPr/>
            <p:nvPr/>
          </p:nvSpPr>
          <p:spPr>
            <a:xfrm>
              <a:off x="2667681" y="3892554"/>
              <a:ext cx="64800" cy="176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6E85E791-B347-CCDF-6631-100A0DD6E3B5}"/>
                </a:ext>
              </a:extLst>
            </p:cNvPr>
            <p:cNvSpPr/>
            <p:nvPr/>
          </p:nvSpPr>
          <p:spPr>
            <a:xfrm>
              <a:off x="2734872" y="3830466"/>
              <a:ext cx="61200" cy="1828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68EB6D09-0E13-089B-8108-C2459271F4AB}"/>
                </a:ext>
              </a:extLst>
            </p:cNvPr>
            <p:cNvSpPr/>
            <p:nvPr/>
          </p:nvSpPr>
          <p:spPr>
            <a:xfrm>
              <a:off x="2794507" y="3777331"/>
              <a:ext cx="68400" cy="1879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DCA870A3-8C72-CF2E-744D-701B52A449C4}"/>
                </a:ext>
              </a:extLst>
            </p:cNvPr>
            <p:cNvSpPr/>
            <p:nvPr/>
          </p:nvSpPr>
          <p:spPr>
            <a:xfrm>
              <a:off x="2880553" y="3714140"/>
              <a:ext cx="68400" cy="194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41A8368-6C46-979F-30D7-1124F202A503}"/>
                </a:ext>
              </a:extLst>
            </p:cNvPr>
            <p:cNvSpPr/>
            <p:nvPr/>
          </p:nvSpPr>
          <p:spPr>
            <a:xfrm>
              <a:off x="2968214" y="3657594"/>
              <a:ext cx="61200" cy="199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3A529EB6-EC15-4EE3-7855-C9323DBE094B}"/>
                </a:ext>
              </a:extLst>
            </p:cNvPr>
            <p:cNvSpPr/>
            <p:nvPr/>
          </p:nvSpPr>
          <p:spPr>
            <a:xfrm>
              <a:off x="3048040" y="3630385"/>
              <a:ext cx="61200" cy="2015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DC2C7276-5B0F-B784-5E71-715A7160B011}"/>
                </a:ext>
              </a:extLst>
            </p:cNvPr>
            <p:cNvSpPr/>
            <p:nvPr/>
          </p:nvSpPr>
          <p:spPr>
            <a:xfrm>
              <a:off x="3126337" y="3636655"/>
              <a:ext cx="61200" cy="2016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B6CD6865-AEDA-CAD0-00A0-F019F61876A1}"/>
                </a:ext>
              </a:extLst>
            </p:cNvPr>
            <p:cNvSpPr/>
            <p:nvPr/>
          </p:nvSpPr>
          <p:spPr>
            <a:xfrm>
              <a:off x="3203813" y="3666938"/>
              <a:ext cx="61200" cy="19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61F05C97-460D-F082-7D32-DF2FC81CE5CA}"/>
                </a:ext>
              </a:extLst>
            </p:cNvPr>
            <p:cNvSpPr/>
            <p:nvPr/>
          </p:nvSpPr>
          <p:spPr>
            <a:xfrm>
              <a:off x="3283102" y="3703323"/>
              <a:ext cx="61200" cy="194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CD85A631-4718-D3B3-048F-DAE979FE390A}"/>
                </a:ext>
              </a:extLst>
            </p:cNvPr>
            <p:cNvSpPr/>
            <p:nvPr/>
          </p:nvSpPr>
          <p:spPr>
            <a:xfrm>
              <a:off x="3361038" y="3747756"/>
              <a:ext cx="61200" cy="190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7CDBC247-226D-0D4F-6441-2D24C755B5F9}"/>
                </a:ext>
              </a:extLst>
            </p:cNvPr>
            <p:cNvSpPr/>
            <p:nvPr/>
          </p:nvSpPr>
          <p:spPr>
            <a:xfrm>
              <a:off x="3439558" y="3849705"/>
              <a:ext cx="61200" cy="1803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7731A44-C3C0-AC1A-452A-5A65551737EE}"/>
                </a:ext>
              </a:extLst>
            </p:cNvPr>
            <p:cNvSpPr/>
            <p:nvPr/>
          </p:nvSpPr>
          <p:spPr>
            <a:xfrm>
              <a:off x="3517660" y="3951542"/>
              <a:ext cx="61200" cy="1699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5949304E-68B4-32D0-69AC-2BBA9B9C63A0}"/>
                </a:ext>
              </a:extLst>
            </p:cNvPr>
            <p:cNvSpPr/>
            <p:nvPr/>
          </p:nvSpPr>
          <p:spPr>
            <a:xfrm>
              <a:off x="3583340" y="4064634"/>
              <a:ext cx="61200" cy="158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521FFD30-0C78-7A44-DE1B-04EEF037BA1C}"/>
                </a:ext>
              </a:extLst>
            </p:cNvPr>
            <p:cNvSpPr/>
            <p:nvPr/>
          </p:nvSpPr>
          <p:spPr>
            <a:xfrm>
              <a:off x="3661978" y="4212000"/>
              <a:ext cx="61200" cy="144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F9257-BCA2-6C4F-0F1D-D68F477B2E6A}"/>
                </a:ext>
              </a:extLst>
            </p:cNvPr>
            <p:cNvSpPr/>
            <p:nvPr/>
          </p:nvSpPr>
          <p:spPr>
            <a:xfrm>
              <a:off x="3741299" y="4299092"/>
              <a:ext cx="61200" cy="1357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177C6882-C0C0-2FCD-597F-08A4FED872DB}"/>
                </a:ext>
              </a:extLst>
            </p:cNvPr>
            <p:cNvSpPr/>
            <p:nvPr/>
          </p:nvSpPr>
          <p:spPr>
            <a:xfrm>
              <a:off x="5302395" y="5204537"/>
              <a:ext cx="64800" cy="446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0B3B20E-B4E5-B918-9171-581D99C7226F}"/>
                </a:ext>
              </a:extLst>
            </p:cNvPr>
            <p:cNvSpPr/>
            <p:nvPr/>
          </p:nvSpPr>
          <p:spPr>
            <a:xfrm>
              <a:off x="5378595" y="5181322"/>
              <a:ext cx="64800" cy="46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A432D5D0-B4A6-183A-7ADD-CFE413654CED}"/>
                </a:ext>
              </a:extLst>
            </p:cNvPr>
            <p:cNvSpPr/>
            <p:nvPr/>
          </p:nvSpPr>
          <p:spPr>
            <a:xfrm>
              <a:off x="5459477" y="5151909"/>
              <a:ext cx="64800" cy="503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A93D8E40-F40D-3A89-8ADB-95092D391D9B}"/>
                </a:ext>
              </a:extLst>
            </p:cNvPr>
            <p:cNvSpPr/>
            <p:nvPr/>
          </p:nvSpPr>
          <p:spPr>
            <a:xfrm>
              <a:off x="5549412" y="5204537"/>
              <a:ext cx="64800" cy="442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8A4C5A7D-338D-C0B8-982B-F85E4D0DB378}"/>
                </a:ext>
              </a:extLst>
            </p:cNvPr>
            <p:cNvSpPr/>
            <p:nvPr/>
          </p:nvSpPr>
          <p:spPr>
            <a:xfrm>
              <a:off x="5639347" y="5283834"/>
              <a:ext cx="64800" cy="370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67E606D2-330E-E256-4A71-62259F18AFB4}"/>
                </a:ext>
              </a:extLst>
            </p:cNvPr>
            <p:cNvSpPr/>
            <p:nvPr/>
          </p:nvSpPr>
          <p:spPr>
            <a:xfrm>
              <a:off x="5720229" y="5338527"/>
              <a:ext cx="64800" cy="316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E9492A2A-A59F-978E-14C8-5C4FDD2F25E7}"/>
                </a:ext>
              </a:extLst>
            </p:cNvPr>
            <p:cNvSpPr/>
            <p:nvPr/>
          </p:nvSpPr>
          <p:spPr>
            <a:xfrm>
              <a:off x="5791168" y="5382060"/>
              <a:ext cx="64800" cy="27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19F1D310-B720-6842-A894-1CB8B6B8C3E9}"/>
                </a:ext>
              </a:extLst>
            </p:cNvPr>
            <p:cNvSpPr/>
            <p:nvPr/>
          </p:nvSpPr>
          <p:spPr>
            <a:xfrm>
              <a:off x="5232619" y="5272461"/>
              <a:ext cx="64800" cy="381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47BDBFAC-B852-FD79-43FE-83BF32948A6E}"/>
                </a:ext>
              </a:extLst>
            </p:cNvPr>
            <p:cNvSpPr/>
            <p:nvPr/>
          </p:nvSpPr>
          <p:spPr>
            <a:xfrm>
              <a:off x="5971844" y="5426547"/>
              <a:ext cx="86399" cy="223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666C71F-55B2-7B7F-A465-DF7C7E547B7D}"/>
                </a:ext>
              </a:extLst>
            </p:cNvPr>
            <p:cNvSpPr/>
            <p:nvPr/>
          </p:nvSpPr>
          <p:spPr>
            <a:xfrm>
              <a:off x="6073212" y="5430689"/>
              <a:ext cx="86399" cy="2150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4DC2EA11-39C7-B54F-707F-D40536C0CD07}"/>
                </a:ext>
              </a:extLst>
            </p:cNvPr>
            <p:cNvSpPr/>
            <p:nvPr/>
          </p:nvSpPr>
          <p:spPr>
            <a:xfrm flipH="1">
              <a:off x="4213243" y="4942373"/>
              <a:ext cx="86399" cy="72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902BFDA5-86A4-9D4F-84DC-4A8A8E3B2932}"/>
                </a:ext>
              </a:extLst>
            </p:cNvPr>
            <p:cNvSpPr/>
            <p:nvPr/>
          </p:nvSpPr>
          <p:spPr>
            <a:xfrm flipH="1">
              <a:off x="4315445" y="5043972"/>
              <a:ext cx="86399" cy="622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BC3CF78A-8C1B-7111-D224-63B9178AA90B}"/>
                </a:ext>
              </a:extLst>
            </p:cNvPr>
            <p:cNvSpPr/>
            <p:nvPr/>
          </p:nvSpPr>
          <p:spPr>
            <a:xfrm flipH="1">
              <a:off x="4418197" y="5125883"/>
              <a:ext cx="86399" cy="54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04EE7CD-0AA6-AB0B-DEBC-548C952FD769}"/>
                </a:ext>
              </a:extLst>
            </p:cNvPr>
            <p:cNvSpPr/>
            <p:nvPr/>
          </p:nvSpPr>
          <p:spPr>
            <a:xfrm flipH="1">
              <a:off x="4522799" y="5218238"/>
              <a:ext cx="86399" cy="45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74B4A14-FA05-865E-C282-62EEA0056226}"/>
                </a:ext>
              </a:extLst>
            </p:cNvPr>
            <p:cNvSpPr/>
            <p:nvPr/>
          </p:nvSpPr>
          <p:spPr>
            <a:xfrm flipH="1">
              <a:off x="4625280" y="5257427"/>
              <a:ext cx="86399" cy="4067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0EDA47FF-19C8-4C72-95A9-04C7C08FB3F3}"/>
                </a:ext>
              </a:extLst>
            </p:cNvPr>
            <p:cNvSpPr/>
            <p:nvPr/>
          </p:nvSpPr>
          <p:spPr>
            <a:xfrm flipH="1">
              <a:off x="4740043" y="5287895"/>
              <a:ext cx="86399" cy="37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5C11E197-11B2-D04E-928D-8B5AF471B37E}"/>
                </a:ext>
              </a:extLst>
            </p:cNvPr>
            <p:cNvSpPr/>
            <p:nvPr/>
          </p:nvSpPr>
          <p:spPr>
            <a:xfrm flipH="1">
              <a:off x="4842795" y="5314084"/>
              <a:ext cx="86399" cy="352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9BC561BA-4C1D-402E-C102-23832A8E6E25}"/>
                </a:ext>
              </a:extLst>
            </p:cNvPr>
            <p:cNvSpPr/>
            <p:nvPr/>
          </p:nvSpPr>
          <p:spPr>
            <a:xfrm flipH="1">
              <a:off x="4945276" y="5328000"/>
              <a:ext cx="86399" cy="338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8B74E328-5F08-212A-2022-3F811109045F}"/>
                </a:ext>
              </a:extLst>
            </p:cNvPr>
            <p:cNvSpPr/>
            <p:nvPr/>
          </p:nvSpPr>
          <p:spPr>
            <a:xfrm flipH="1">
              <a:off x="5048226" y="5321947"/>
              <a:ext cx="86399" cy="342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6012DDB3-034A-73BE-55C1-853FFD60350B}"/>
                </a:ext>
              </a:extLst>
            </p:cNvPr>
            <p:cNvSpPr/>
            <p:nvPr/>
          </p:nvSpPr>
          <p:spPr>
            <a:xfrm flipH="1">
              <a:off x="5151646" y="5292000"/>
              <a:ext cx="72000" cy="367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37875981-E808-3B7E-9E70-A8AE19F0A7D6}"/>
              </a:ext>
            </a:extLst>
          </p:cNvPr>
          <p:cNvGrpSpPr/>
          <p:nvPr/>
        </p:nvGrpSpPr>
        <p:grpSpPr>
          <a:xfrm>
            <a:off x="5380480" y="3067085"/>
            <a:ext cx="2462749" cy="461666"/>
            <a:chOff x="5380480" y="3067085"/>
            <a:chExt cx="2462749" cy="461666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EB5B222E-15E4-D148-5C66-A19283364197}"/>
                </a:ext>
              </a:extLst>
            </p:cNvPr>
            <p:cNvSpPr txBox="1"/>
            <p:nvPr/>
          </p:nvSpPr>
          <p:spPr>
            <a:xfrm>
              <a:off x="5380480" y="3067086"/>
              <a:ext cx="8872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Grid</a:t>
              </a:r>
              <a:endParaRPr kumimoji="1" lang="zh-CN" altLang="en-US" sz="24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07899314-F942-8BEE-7321-D621CDB9159E}"/>
                </a:ext>
              </a:extLst>
            </p:cNvPr>
            <p:cNvSpPr txBox="1"/>
            <p:nvPr/>
          </p:nvSpPr>
          <p:spPr>
            <a:xfrm>
              <a:off x="6476950" y="3067085"/>
              <a:ext cx="13662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2400" dirty="0"/>
                <a:t>Weight</a:t>
              </a:r>
              <a:endParaRPr lang="zh-CN" altLang="en-US" sz="2400" dirty="0"/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F03B322D-C6BD-6D67-F62F-4C306202E75A}"/>
              </a:ext>
            </a:extLst>
          </p:cNvPr>
          <p:cNvGrpSpPr/>
          <p:nvPr/>
        </p:nvGrpSpPr>
        <p:grpSpPr>
          <a:xfrm>
            <a:off x="2422053" y="1770092"/>
            <a:ext cx="4207293" cy="4136024"/>
            <a:chOff x="2422053" y="1770092"/>
            <a:chExt cx="4207293" cy="4136024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69F3D49A-1517-8775-7FB2-A04AC147AA98}"/>
                </a:ext>
              </a:extLst>
            </p:cNvPr>
            <p:cNvSpPr/>
            <p:nvPr/>
          </p:nvSpPr>
          <p:spPr>
            <a:xfrm>
              <a:off x="2422053" y="5757912"/>
              <a:ext cx="1380446" cy="14820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7334DE92-D178-C6B2-D5C9-2F433B8E0377}"/>
                </a:ext>
              </a:extLst>
            </p:cNvPr>
            <p:cNvSpPr/>
            <p:nvPr/>
          </p:nvSpPr>
          <p:spPr>
            <a:xfrm>
              <a:off x="5091425" y="5747688"/>
              <a:ext cx="811416" cy="14820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898B17B2-81A9-C7AD-A897-EAF87428D4CA}"/>
                </a:ext>
              </a:extLst>
            </p:cNvPr>
            <p:cNvSpPr/>
            <p:nvPr/>
          </p:nvSpPr>
          <p:spPr>
            <a:xfrm>
              <a:off x="5279140" y="1770092"/>
              <a:ext cx="1350206" cy="82072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11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D4AF25C-4B15-B112-11A8-CC040F5DD99E}"/>
                  </a:ext>
                </a:extLst>
              </p:cNvPr>
              <p:cNvSpPr txBox="1"/>
              <p:nvPr/>
            </p:nvSpPr>
            <p:spPr>
              <a:xfrm>
                <a:off x="762100" y="1981238"/>
                <a:ext cx="5086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𝒙𝒄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D4AF25C-4B15-B112-11A8-CC040F5DD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0" y="1981238"/>
                <a:ext cx="5086649" cy="492443"/>
              </a:xfrm>
              <a:prstGeom prst="rect">
                <a:avLst/>
              </a:prstGeom>
              <a:blipFill>
                <a:blip r:embed="rId2"/>
                <a:stretch>
                  <a:fillRect l="-1247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36DC2E2-C1C3-4593-B293-5779D1BF4927}"/>
                  </a:ext>
                </a:extLst>
              </p:cNvPr>
              <p:cNvSpPr txBox="1"/>
              <p:nvPr/>
            </p:nvSpPr>
            <p:spPr>
              <a:xfrm>
                <a:off x="3429030" y="1371654"/>
                <a:ext cx="19287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𝑭𝑪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𝑺𝑪𝑬</m:t>
                      </m:r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36DC2E2-C1C3-4593-B293-5779D1BF4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30" y="1371654"/>
                <a:ext cx="1928798" cy="492443"/>
              </a:xfrm>
              <a:prstGeom prst="rect">
                <a:avLst/>
              </a:prstGeom>
              <a:blipFill>
                <a:blip r:embed="rId3"/>
                <a:stretch>
                  <a:fillRect l="-3947" r="-3947"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1D2D3B6D-5861-A6DE-032D-FB3F96FA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kumimoji="1" lang="zh-CN" altLang="en-US" dirty="0"/>
              <a:t>量化中什么时候需要数值积分？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F8C7AA3-F8EA-A554-C870-911AB815EC65}"/>
                  </a:ext>
                </a:extLst>
              </p:cNvPr>
              <p:cNvSpPr txBox="1"/>
              <p:nvPr/>
            </p:nvSpPr>
            <p:spPr>
              <a:xfrm>
                <a:off x="6476950" y="1981238"/>
                <a:ext cx="40885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F8C7AA3-F8EA-A554-C870-911AB815E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950" y="1981238"/>
                <a:ext cx="408852" cy="584775"/>
              </a:xfrm>
              <a:prstGeom prst="rect">
                <a:avLst/>
              </a:prstGeom>
              <a:blipFill>
                <a:blip r:embed="rId4"/>
                <a:stretch>
                  <a:fillRect l="-11765" r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678D2F-C015-4E59-DA87-B85358D5CFAE}"/>
                  </a:ext>
                </a:extLst>
              </p:cNvPr>
              <p:cNvSpPr txBox="1"/>
              <p:nvPr/>
            </p:nvSpPr>
            <p:spPr>
              <a:xfrm>
                <a:off x="481622" y="2389861"/>
                <a:ext cx="3624967" cy="12915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0" smtClean="0"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𝒂𝒊</m:t>
                          </m:r>
                        </m:sub>
                      </m:sSub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kumimoji="1"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678D2F-C015-4E59-DA87-B85358D5C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22" y="2389861"/>
                <a:ext cx="3624967" cy="1291572"/>
              </a:xfrm>
              <a:prstGeom prst="rect">
                <a:avLst/>
              </a:prstGeom>
              <a:blipFill>
                <a:blip r:embed="rId5"/>
                <a:stretch>
                  <a:fillRect l="-14634" t="-156863" r="-697" b="-218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4378B4-6E7A-3F6E-E34E-B4EF9E47792A}"/>
                  </a:ext>
                </a:extLst>
              </p:cNvPr>
              <p:cNvSpPr txBox="1"/>
              <p:nvPr/>
            </p:nvSpPr>
            <p:spPr>
              <a:xfrm>
                <a:off x="4575088" y="2609996"/>
                <a:ext cx="3475760" cy="593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𝝁𝝂</m:t>
                          </m:r>
                        </m:sub>
                        <m:sup>
                          <m:acc>
                            <m:accPr>
                              <m:chr m:val="⃗"/>
                              <m:ctrlP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sup>
                      </m:sSubSup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=&lt;</m:t>
                      </m:r>
                      <m:sSub>
                        <m:sSub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32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latin typeface="Cambria Math" panose="02040503050406030204" pitchFamily="18" charset="0"/>
                            </a:rPr>
                            <m:t>𝝂</m:t>
                          </m:r>
                        </m:sub>
                      </m:sSub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4378B4-6E7A-3F6E-E34E-B4EF9E47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088" y="2609996"/>
                <a:ext cx="3475760" cy="593368"/>
              </a:xfrm>
              <a:prstGeom prst="rect">
                <a:avLst/>
              </a:prstGeom>
              <a:blipFill>
                <a:blip r:embed="rId6"/>
                <a:stretch>
                  <a:fillRect l="-1818" r="-145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9279AE8C-5D2E-7472-F41D-6507E7AC7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3429000"/>
                <a:ext cx="7924800" cy="2860294"/>
              </a:xfrm>
            </p:spPr>
            <p:txBody>
              <a:bodyPr/>
              <a:lstStyle/>
              <a:p>
                <a:r>
                  <a:rPr kumimoji="1" lang="zh-CN" altLang="en-US" dirty="0"/>
                  <a:t>必须使用数值积分</a:t>
                </a:r>
                <a:endParaRPr kumimoji="1" lang="en-US" altLang="zh-CN" dirty="0"/>
              </a:p>
              <a:p>
                <a:pPr lvl="1"/>
                <a:r>
                  <a:rPr kumimoji="1" lang="en-US" altLang="zh-CN" sz="2800" b="1" dirty="0"/>
                  <a:t>GTO</a:t>
                </a:r>
                <a:r>
                  <a:rPr kumimoji="1" lang="zh-CN" altLang="en-US" sz="2800" b="1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𝒙𝒄</m:t>
                        </m:r>
                      </m:sup>
                    </m:sSup>
                  </m:oMath>
                </a14:m>
                <a:r>
                  <a:rPr kumimoji="1" lang="zh-CN" altLang="en-US" b="1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kumimoji="1" lang="en-US" altLang="zh-CN" b="1" i="1">
                            <a:latin typeface="Cambria Math" panose="02040503050406030204" pitchFamily="18" charset="0"/>
                          </a:rPr>
                          <m:t>𝒂𝒊</m:t>
                        </m:r>
                      </m:sub>
                    </m:sSub>
                  </m:oMath>
                </a14:m>
                <a:endParaRPr kumimoji="1" lang="en-US" altLang="zh-CN" dirty="0"/>
              </a:p>
              <a:p>
                <a:pPr lvl="1"/>
                <a:r>
                  <a:rPr kumimoji="1" lang="en-US" altLang="zh-CN" b="1" dirty="0"/>
                  <a:t>STO/ANO</a:t>
                </a:r>
                <a:r>
                  <a:rPr kumimoji="1" lang="zh-CN" altLang="en-US" dirty="0"/>
                  <a:t>：</a:t>
                </a:r>
                <a:r>
                  <a:rPr kumimoji="1" lang="en-US" altLang="zh-CN" dirty="0"/>
                  <a:t>all (except 1 center STO)</a:t>
                </a:r>
              </a:p>
              <a:p>
                <a:r>
                  <a:rPr kumimoji="1" lang="zh-CN" altLang="en-US" dirty="0"/>
                  <a:t>计算加速</a:t>
                </a:r>
                <a:endParaRPr kumimoji="1" lang="en-US" altLang="zh-CN" dirty="0"/>
              </a:p>
              <a:p>
                <a:pPr marL="457200" lvl="1" indent="0">
                  <a:buNone/>
                </a:pPr>
                <a:r>
                  <a:rPr kumimoji="1" lang="en-US" altLang="zh-CN" dirty="0"/>
                  <a:t>MPEC-J, COSX-K, FFT-J, ……</a:t>
                </a:r>
                <a:endParaRPr kumimoji="1" lang="zh-CN" altLang="en-US" dirty="0"/>
              </a:p>
            </p:txBody>
          </p:sp>
        </mc:Choice>
        <mc:Fallback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9279AE8C-5D2E-7472-F41D-6507E7AC7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429000"/>
                <a:ext cx="7924800" cy="2860294"/>
              </a:xfrm>
              <a:blipFill>
                <a:blip r:embed="rId7"/>
                <a:stretch>
                  <a:fillRect l="-1282" t="-3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48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89ADD-DF95-D088-896D-81E7EF67A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800522"/>
          </a:xfrm>
        </p:spPr>
        <p:txBody>
          <a:bodyPr/>
          <a:lstStyle/>
          <a:p>
            <a:r>
              <a:rPr kumimoji="1" lang="zh-CN" altLang="en-US" dirty="0"/>
              <a:t>产生格点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均匀格点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原子中心格点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在格点上的计算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格点分块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格点块上计算</a:t>
            </a:r>
          </a:p>
        </p:txBody>
      </p:sp>
    </p:spTree>
    <p:extLst>
      <p:ext uri="{BB962C8B-B14F-4D97-AF65-F5344CB8AC3E}">
        <p14:creationId xmlns:p14="http://schemas.microsoft.com/office/powerpoint/2010/main" val="155556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37559-E581-DB34-89F3-5D535281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均匀格点</a:t>
            </a:r>
            <a:endParaRPr kumimoji="1"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32DE0-4DEF-E848-8062-764998716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110" y="1398371"/>
            <a:ext cx="7924800" cy="1143018"/>
          </a:xfrm>
        </p:spPr>
        <p:txBody>
          <a:bodyPr/>
          <a:lstStyle/>
          <a:p>
            <a:pPr marL="457200" lvl="1" indent="0">
              <a:buNone/>
            </a:pPr>
            <a:r>
              <a:rPr kumimoji="1" lang="en-US" altLang="zh-CN" dirty="0"/>
              <a:t>PW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FFT-J</a:t>
            </a:r>
            <a:r>
              <a:rPr kumimoji="1" lang="zh-CN" altLang="en-US" dirty="0"/>
              <a:t>，特殊性质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B29990-9921-C173-A725-10A7619B2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90" y="2101428"/>
            <a:ext cx="5791048" cy="16545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18905A1-A1FE-A87F-6722-8DBF2B6CA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510" y="3797300"/>
            <a:ext cx="40640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3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66B8-D036-ECE0-2880-D8A3E95B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A861A-4194-4B57-B2A1-BE699F4F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原子中心格点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5F0E55-2FAF-3ADD-835F-CE56A196CA63}"/>
                  </a:ext>
                </a:extLst>
              </p:cNvPr>
              <p:cNvSpPr txBox="1"/>
              <p:nvPr/>
            </p:nvSpPr>
            <p:spPr>
              <a:xfrm>
                <a:off x="5791168" y="1495090"/>
                <a:ext cx="21515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dirty="0"/>
                  <a:t>径向</a:t>
                </a:r>
                <a14:m>
                  <m:oMath xmlns:m="http://schemas.openxmlformats.org/officeDocument/2006/math">
                    <m:r>
                      <a:rPr kumimoji="1" lang="en-US" altLang="zh-CN" sz="32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1" lang="zh-CN" altLang="en-US" sz="3200" dirty="0"/>
                  <a:t>角度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5F0E55-2FAF-3ADD-835F-CE56A196C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68" y="1495090"/>
                <a:ext cx="2151551" cy="584775"/>
              </a:xfrm>
              <a:prstGeom prst="rect">
                <a:avLst/>
              </a:prstGeom>
              <a:blipFill>
                <a:blip r:embed="rId3"/>
                <a:stretch>
                  <a:fillRect l="-7059" t="-17021" r="-5882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组合 55">
            <a:extLst>
              <a:ext uri="{FF2B5EF4-FFF2-40B4-BE49-F238E27FC236}">
                <a16:creationId xmlns:a16="http://schemas.microsoft.com/office/drawing/2014/main" id="{BD15D367-E0F7-5600-D032-1FADB1D28A2A}"/>
              </a:ext>
            </a:extLst>
          </p:cNvPr>
          <p:cNvGrpSpPr/>
          <p:nvPr/>
        </p:nvGrpSpPr>
        <p:grpSpPr>
          <a:xfrm>
            <a:off x="707124" y="2273066"/>
            <a:ext cx="2362532" cy="3680475"/>
            <a:chOff x="2691991" y="2677734"/>
            <a:chExt cx="2362532" cy="3680475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D096EAD-B5D8-2C0F-BBC6-3E3E0FC5D198}"/>
                </a:ext>
              </a:extLst>
            </p:cNvPr>
            <p:cNvGrpSpPr/>
            <p:nvPr/>
          </p:nvGrpSpPr>
          <p:grpSpPr>
            <a:xfrm>
              <a:off x="2691991" y="2677734"/>
              <a:ext cx="2234766" cy="1701163"/>
              <a:chOff x="4967833" y="1518655"/>
              <a:chExt cx="1570185" cy="1240006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DC890161-AD75-D3C0-183D-3A579A1A37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7833" y="1518655"/>
                <a:ext cx="1570185" cy="1240006"/>
              </a:xfrm>
              <a:prstGeom prst="rect">
                <a:avLst/>
              </a:prstGeom>
            </p:spPr>
          </p:pic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F9B54A3-3964-ABCC-FC45-E33B275047DA}"/>
                  </a:ext>
                </a:extLst>
              </p:cNvPr>
              <p:cNvSpPr txBox="1"/>
              <p:nvPr/>
            </p:nvSpPr>
            <p:spPr>
              <a:xfrm>
                <a:off x="5097937" y="1953991"/>
                <a:ext cx="6549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STO</a:t>
                </a:r>
                <a:endParaRPr kumimoji="1" lang="zh-CN" altLang="en-US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F7902BD-91AF-572E-031A-934995DB5498}"/>
                </a:ext>
              </a:extLst>
            </p:cNvPr>
            <p:cNvGrpSpPr/>
            <p:nvPr/>
          </p:nvGrpSpPr>
          <p:grpSpPr>
            <a:xfrm>
              <a:off x="2819757" y="4657047"/>
              <a:ext cx="2234766" cy="1701162"/>
              <a:chOff x="4840095" y="2915943"/>
              <a:chExt cx="1720938" cy="1229269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3C0E8C0-13B9-1AF9-9CBD-1C9875DED9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49211" r="3054" b="8304"/>
              <a:stretch/>
            </p:blipFill>
            <p:spPr>
              <a:xfrm>
                <a:off x="4840095" y="2915943"/>
                <a:ext cx="1720938" cy="1229269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D5D3EDC-F9D1-3103-FE67-14E001740919}"/>
                  </a:ext>
                </a:extLst>
              </p:cNvPr>
              <p:cNvSpPr txBox="1"/>
              <p:nvPr/>
            </p:nvSpPr>
            <p:spPr>
              <a:xfrm>
                <a:off x="4840095" y="3174639"/>
                <a:ext cx="530728" cy="266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GTO</a:t>
                </a:r>
                <a:endParaRPr kumimoji="1" lang="zh-CN" alt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C9413F1-1845-751F-4E5E-2FDC545AC976}"/>
                  </a:ext>
                </a:extLst>
              </p:cNvPr>
              <p:cNvSpPr txBox="1"/>
              <p:nvPr/>
            </p:nvSpPr>
            <p:spPr>
              <a:xfrm>
                <a:off x="520881" y="1483800"/>
                <a:ext cx="509754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kumimoji="1" lang="en-US" altLang="zh-CN" sz="3600" b="1" dirty="0"/>
                  <a:t>AO</a:t>
                </a:r>
                <a:r>
                  <a:rPr kumimoji="1" lang="zh-CN" altLang="en-US" sz="3600" b="1" dirty="0"/>
                  <a:t>：</a:t>
                </a:r>
                <a14:m>
                  <m:oMath xmlns:m="http://schemas.openxmlformats.org/officeDocument/2006/math"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𝝌</m:t>
                    </m:r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sSub>
                      <m:sSubPr>
                        <m:ctrlP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𝒍𝒎</m:t>
                        </m:r>
                      </m:sub>
                    </m:sSub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kumimoji="1" lang="en-US" altLang="zh-CN" sz="3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3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C9413F1-1845-751F-4E5E-2FDC545AC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81" y="1483800"/>
                <a:ext cx="5097549" cy="553998"/>
              </a:xfrm>
              <a:prstGeom prst="rect">
                <a:avLst/>
              </a:prstGeom>
              <a:blipFill>
                <a:blip r:embed="rId6"/>
                <a:stretch>
                  <a:fillRect l="-5211" t="-28889" r="-744" b="-4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7317C7CF-847D-7929-92B6-7E5E9D4E69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981" y="2037798"/>
            <a:ext cx="4297895" cy="429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3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F7515-856D-2D10-1908-F69E3846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原子中心格点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A76EFAA-6196-830D-497A-64F97A99C536}"/>
                  </a:ext>
                </a:extLst>
              </p:cNvPr>
              <p:cNvSpPr txBox="1"/>
              <p:nvPr/>
            </p:nvSpPr>
            <p:spPr>
              <a:xfrm>
                <a:off x="906453" y="1581442"/>
                <a:ext cx="21515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dirty="0"/>
                  <a:t>径向</a:t>
                </a:r>
                <a14:m>
                  <m:oMath xmlns:m="http://schemas.openxmlformats.org/officeDocument/2006/math">
                    <m:r>
                      <a:rPr kumimoji="1" lang="en-US" altLang="zh-CN" sz="32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1" lang="zh-CN" altLang="en-US" sz="3200" dirty="0"/>
                  <a:t>角向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A76EFAA-6196-830D-497A-64F97A99C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53" y="1581442"/>
                <a:ext cx="2151551" cy="584775"/>
              </a:xfrm>
              <a:prstGeom prst="rect">
                <a:avLst/>
              </a:prstGeom>
              <a:blipFill>
                <a:blip r:embed="rId3"/>
                <a:stretch>
                  <a:fillRect l="-7059" t="-17021" r="-6471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AC4BFF12-9D5B-E75F-A31D-52F02A15F0F2}"/>
              </a:ext>
            </a:extLst>
          </p:cNvPr>
          <p:cNvGrpSpPr/>
          <p:nvPr/>
        </p:nvGrpSpPr>
        <p:grpSpPr>
          <a:xfrm>
            <a:off x="642698" y="2743218"/>
            <a:ext cx="7967796" cy="3933676"/>
            <a:chOff x="642698" y="2743218"/>
            <a:chExt cx="7967796" cy="393367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48F18187-B757-C3A2-F62B-57CBDF4A3FE0}"/>
                </a:ext>
              </a:extLst>
            </p:cNvPr>
            <p:cNvGrpSpPr/>
            <p:nvPr/>
          </p:nvGrpSpPr>
          <p:grpSpPr>
            <a:xfrm>
              <a:off x="642698" y="2743218"/>
              <a:ext cx="7967796" cy="3473452"/>
              <a:chOff x="642698" y="2839414"/>
              <a:chExt cx="7967796" cy="3473452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1C592BCC-1F66-3DC2-ACA3-684DE6A5525E}"/>
                  </a:ext>
                </a:extLst>
              </p:cNvPr>
              <p:cNvGrpSpPr/>
              <p:nvPr/>
            </p:nvGrpSpPr>
            <p:grpSpPr>
              <a:xfrm>
                <a:off x="877889" y="2839414"/>
                <a:ext cx="7732605" cy="3032273"/>
                <a:chOff x="838298" y="3072384"/>
                <a:chExt cx="7732605" cy="2438336"/>
              </a:xfrm>
            </p:grpSpPr>
            <p:cxnSp>
              <p:nvCxnSpPr>
                <p:cNvPr id="20" name="直线连接符 19">
                  <a:extLst>
                    <a:ext uri="{FF2B5EF4-FFF2-40B4-BE49-F238E27FC236}">
                      <a16:creationId xmlns:a16="http://schemas.microsoft.com/office/drawing/2014/main" id="{66A04B03-208A-956C-F8D8-268D2B15C585}"/>
                    </a:ext>
                  </a:extLst>
                </p:cNvPr>
                <p:cNvCxnSpPr/>
                <p:nvPr/>
              </p:nvCxnSpPr>
              <p:spPr>
                <a:xfrm>
                  <a:off x="838298" y="3072384"/>
                  <a:ext cx="0" cy="24383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线连接符 20">
                  <a:extLst>
                    <a:ext uri="{FF2B5EF4-FFF2-40B4-BE49-F238E27FC236}">
                      <a16:creationId xmlns:a16="http://schemas.microsoft.com/office/drawing/2014/main" id="{8EE52C8F-1C72-A595-15A6-73F0B1523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298" y="5486346"/>
                  <a:ext cx="7732605" cy="0"/>
                </a:xfrm>
                <a:prstGeom prst="line">
                  <a:avLst/>
                </a:prstGeom>
                <a:ln w="3810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CB2918E-72F5-6349-7FF2-44627768478E}"/>
                  </a:ext>
                </a:extLst>
              </p:cNvPr>
              <p:cNvSpPr/>
              <p:nvPr/>
            </p:nvSpPr>
            <p:spPr>
              <a:xfrm>
                <a:off x="990694" y="3321376"/>
                <a:ext cx="36000" cy="2520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2D03018-3220-81E2-E093-162A780E49B5}"/>
                  </a:ext>
                </a:extLst>
              </p:cNvPr>
              <p:cNvSpPr/>
              <p:nvPr/>
            </p:nvSpPr>
            <p:spPr>
              <a:xfrm>
                <a:off x="1033337" y="3922356"/>
                <a:ext cx="324000" cy="1908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2D6DDBD-0A6B-2830-67D5-50844CF8212E}"/>
                  </a:ext>
                </a:extLst>
              </p:cNvPr>
              <p:cNvSpPr/>
              <p:nvPr/>
            </p:nvSpPr>
            <p:spPr>
              <a:xfrm>
                <a:off x="1368000" y="4284000"/>
                <a:ext cx="720000" cy="1548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7189729-3FBB-508D-910F-88E28D30C8A8}"/>
                  </a:ext>
                </a:extLst>
              </p:cNvPr>
              <p:cNvSpPr/>
              <p:nvPr/>
            </p:nvSpPr>
            <p:spPr>
              <a:xfrm>
                <a:off x="2091207" y="5002357"/>
                <a:ext cx="720000" cy="82799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F0B0026-C375-82F9-9EDC-44EF05701622}"/>
                  </a:ext>
                </a:extLst>
              </p:cNvPr>
              <p:cNvSpPr/>
              <p:nvPr/>
            </p:nvSpPr>
            <p:spPr>
              <a:xfrm>
                <a:off x="3928670" y="5245200"/>
                <a:ext cx="1440000" cy="601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FBA8811-8197-3619-2AEC-CECE4B729711}"/>
                  </a:ext>
                </a:extLst>
              </p:cNvPr>
              <p:cNvSpPr/>
              <p:nvPr/>
            </p:nvSpPr>
            <p:spPr>
              <a:xfrm>
                <a:off x="5382539" y="5472000"/>
                <a:ext cx="1800000" cy="360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571815A-7793-2E30-A95B-C3EE97BCC7F7}"/>
                  </a:ext>
                </a:extLst>
              </p:cNvPr>
              <p:cNvSpPr txBox="1"/>
              <p:nvPr/>
            </p:nvSpPr>
            <p:spPr>
              <a:xfrm>
                <a:off x="877889" y="2964362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21</a:t>
                </a:r>
                <a:endParaRPr kumimoji="1"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10401CE-3A75-167C-3193-6B7A3B78DD5A}"/>
                  </a:ext>
                </a:extLst>
              </p:cNvPr>
              <p:cNvSpPr txBox="1"/>
              <p:nvPr/>
            </p:nvSpPr>
            <p:spPr>
              <a:xfrm>
                <a:off x="1005689" y="3547514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16</a:t>
                </a:r>
                <a:endParaRPr kumimoji="1"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9EB524A-EFE0-F33F-DCC3-AFA88D0D2A2D}"/>
                  </a:ext>
                </a:extLst>
              </p:cNvPr>
              <p:cNvSpPr txBox="1"/>
              <p:nvPr/>
            </p:nvSpPr>
            <p:spPr>
              <a:xfrm>
                <a:off x="1541083" y="3905292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13</a:t>
                </a:r>
                <a:endParaRPr kumimoji="1"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E34E282-F7C9-790C-C94A-1F4D74F06D7F}"/>
                  </a:ext>
                </a:extLst>
              </p:cNvPr>
              <p:cNvSpPr txBox="1"/>
              <p:nvPr/>
            </p:nvSpPr>
            <p:spPr>
              <a:xfrm>
                <a:off x="2314090" y="462200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7</a:t>
                </a: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4420BF94-D418-2F78-7A79-54C1E8FE0043}"/>
                  </a:ext>
                </a:extLst>
              </p:cNvPr>
              <p:cNvSpPr/>
              <p:nvPr/>
            </p:nvSpPr>
            <p:spPr>
              <a:xfrm>
                <a:off x="2831372" y="5009130"/>
                <a:ext cx="1080000" cy="82799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AD12047-45AB-AD28-039A-A1DB2C0B8D7C}"/>
                  </a:ext>
                </a:extLst>
              </p:cNvPr>
              <p:cNvSpPr txBox="1"/>
              <p:nvPr/>
            </p:nvSpPr>
            <p:spPr>
              <a:xfrm>
                <a:off x="642698" y="5928196"/>
                <a:ext cx="552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0.1</a:t>
                </a:r>
                <a:endParaRPr lang="zh-CN" altLang="en-US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0DAD3C1-903F-64B1-ABF2-66868D566F03}"/>
                  </a:ext>
                </a:extLst>
              </p:cNvPr>
              <p:cNvSpPr txBox="1"/>
              <p:nvPr/>
            </p:nvSpPr>
            <p:spPr>
              <a:xfrm>
                <a:off x="1033337" y="5935591"/>
                <a:ext cx="552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1.0</a:t>
                </a:r>
                <a:endParaRPr lang="zh-CN" altLang="en-US" dirty="0"/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C89C832-EBA6-3B77-FBF2-B6A859ED011F}"/>
                  </a:ext>
                </a:extLst>
              </p:cNvPr>
              <p:cNvSpPr txBox="1"/>
              <p:nvPr/>
            </p:nvSpPr>
            <p:spPr>
              <a:xfrm>
                <a:off x="1809619" y="5943534"/>
                <a:ext cx="552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3.0</a:t>
                </a:r>
                <a:endParaRPr lang="zh-CN" altLang="en-US" dirty="0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71218F7-BF3E-5911-D240-C4EAEA3C6359}"/>
                  </a:ext>
                </a:extLst>
              </p:cNvPr>
              <p:cNvSpPr txBox="1"/>
              <p:nvPr/>
            </p:nvSpPr>
            <p:spPr>
              <a:xfrm>
                <a:off x="2571599" y="5943534"/>
                <a:ext cx="552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5.0</a:t>
                </a:r>
                <a:endParaRPr lang="zh-CN" altLang="en-US" dirty="0"/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5269189-B828-CE9D-AB9E-CADE1401636C}"/>
                  </a:ext>
                </a:extLst>
              </p:cNvPr>
              <p:cNvSpPr txBox="1"/>
              <p:nvPr/>
            </p:nvSpPr>
            <p:spPr>
              <a:xfrm>
                <a:off x="3638371" y="5943534"/>
                <a:ext cx="552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8.0</a:t>
                </a:r>
                <a:endParaRPr lang="zh-CN" altLang="en-US" dirty="0"/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BD359F78-F3B2-1445-9FED-CCA396954218}"/>
                  </a:ext>
                </a:extLst>
              </p:cNvPr>
              <p:cNvSpPr txBox="1"/>
              <p:nvPr/>
            </p:nvSpPr>
            <p:spPr>
              <a:xfrm>
                <a:off x="3252152" y="462379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7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BE2836-A0C6-A824-D7E0-5029F35804A8}"/>
                  </a:ext>
                </a:extLst>
              </p:cNvPr>
              <p:cNvSpPr txBox="1"/>
              <p:nvPr/>
            </p:nvSpPr>
            <p:spPr>
              <a:xfrm>
                <a:off x="4521363" y="4885753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5</a:t>
                </a: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91442AE-0A87-5EEB-49A7-92FC4E3B66FF}"/>
                  </a:ext>
                </a:extLst>
              </p:cNvPr>
              <p:cNvSpPr txBox="1"/>
              <p:nvPr/>
            </p:nvSpPr>
            <p:spPr>
              <a:xfrm>
                <a:off x="5969633" y="51026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3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270FECB-0F50-6AD5-4492-250D2960461B}"/>
                  </a:ext>
                </a:extLst>
              </p:cNvPr>
              <p:cNvSpPr txBox="1"/>
              <p:nvPr/>
            </p:nvSpPr>
            <p:spPr>
              <a:xfrm>
                <a:off x="7897644" y="517064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3</a:t>
                </a: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1615BCC-5A9B-234F-864F-54D3902F66B9}"/>
                  </a:ext>
                </a:extLst>
              </p:cNvPr>
              <p:cNvSpPr txBox="1"/>
              <p:nvPr/>
            </p:nvSpPr>
            <p:spPr>
              <a:xfrm>
                <a:off x="6857940" y="5935591"/>
                <a:ext cx="776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17.0</a:t>
                </a:r>
                <a:endParaRPr lang="zh-CN" altLang="en-US" dirty="0"/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16B1B21-60EA-DFF4-C37A-B50A17BB19FD}"/>
                  </a:ext>
                </a:extLst>
              </p:cNvPr>
              <p:cNvSpPr txBox="1"/>
              <p:nvPr/>
            </p:nvSpPr>
            <p:spPr>
              <a:xfrm>
                <a:off x="5029188" y="5935591"/>
                <a:ext cx="6795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/>
                  <a:t>12.0</a:t>
                </a:r>
                <a:endParaRPr lang="zh-CN" altLang="en-US" dirty="0"/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1205F95-FBAB-F21E-0AAC-D8FC66A38FEB}"/>
                </a:ext>
              </a:extLst>
            </p:cNvPr>
            <p:cNvSpPr txBox="1"/>
            <p:nvPr/>
          </p:nvSpPr>
          <p:spPr>
            <a:xfrm>
              <a:off x="1446835" y="6307562"/>
              <a:ext cx="3877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Gauss-</a:t>
              </a:r>
              <a:r>
                <a:rPr kumimoji="1" lang="en-US" altLang="zh-CN" dirty="0" err="1"/>
                <a:t>Chebeshev</a:t>
              </a:r>
              <a:r>
                <a:rPr kumimoji="1" lang="en-US" altLang="zh-CN" dirty="0"/>
                <a:t> used by </a:t>
              </a:r>
              <a:r>
                <a:rPr kumimoji="1" lang="en-US" altLang="zh-CN" dirty="0" err="1"/>
                <a:t>Becke</a:t>
              </a:r>
              <a:endParaRPr kumimoji="1" lang="zh-CN" altLang="en-US" dirty="0"/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9C5B7A9B-3772-B3A6-9E9A-12AAEA609645}"/>
              </a:ext>
            </a:extLst>
          </p:cNvPr>
          <p:cNvSpPr txBox="1"/>
          <p:nvPr/>
        </p:nvSpPr>
        <p:spPr>
          <a:xfrm>
            <a:off x="4322962" y="1665858"/>
            <a:ext cx="4532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subroutine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generate_radial_grid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6547BE3-F861-4746-7F07-AFB29C2BA485}"/>
              </a:ext>
            </a:extLst>
          </p:cNvPr>
          <p:cNvSpPr txBox="1"/>
          <p:nvPr/>
        </p:nvSpPr>
        <p:spPr>
          <a:xfrm>
            <a:off x="5260994" y="2262158"/>
            <a:ext cx="35945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"Gauss-Chebyshev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"Gauss-Legendre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"Multi-Exponential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"Generalized </a:t>
            </a:r>
            <a:r>
              <a:rPr lang="en-US" altLang="zh-CN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Languerre</a:t>
            </a:r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"Mura-Knowles log3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"Murray-Handy-Laming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"UT method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"Euler Maclaurin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"Second Kind Chebyshev "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54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9A05C267-B1F3-F301-6BA7-729767510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83" y="2037751"/>
            <a:ext cx="2869459" cy="175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E4196798-A2FE-D4A6-EBD8-FCBB0E75D893}"/>
              </a:ext>
            </a:extLst>
          </p:cNvPr>
          <p:cNvGrpSpPr/>
          <p:nvPr/>
        </p:nvGrpSpPr>
        <p:grpSpPr>
          <a:xfrm>
            <a:off x="4917110" y="1971919"/>
            <a:ext cx="3293440" cy="2755909"/>
            <a:chOff x="4912884" y="3263823"/>
            <a:chExt cx="3293440" cy="275590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D80F8D0-374B-F06C-787F-2FB11CC0C4B9}"/>
                </a:ext>
              </a:extLst>
            </p:cNvPr>
            <p:cNvGrpSpPr/>
            <p:nvPr/>
          </p:nvGrpSpPr>
          <p:grpSpPr>
            <a:xfrm>
              <a:off x="4912884" y="3263823"/>
              <a:ext cx="3293440" cy="2755909"/>
              <a:chOff x="4912884" y="3263823"/>
              <a:chExt cx="3293440" cy="2755909"/>
            </a:xfrm>
          </p:grpSpPr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A32C1E1C-5764-D0C9-695F-7AA174456335}"/>
                  </a:ext>
                </a:extLst>
              </p:cNvPr>
              <p:cNvCxnSpPr/>
              <p:nvPr/>
            </p:nvCxnSpPr>
            <p:spPr>
              <a:xfrm flipV="1">
                <a:off x="6461679" y="3429000"/>
                <a:ext cx="0" cy="25907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箭头连接符 9">
                <a:extLst>
                  <a:ext uri="{FF2B5EF4-FFF2-40B4-BE49-F238E27FC236}">
                    <a16:creationId xmlns:a16="http://schemas.microsoft.com/office/drawing/2014/main" id="{098559D2-B71F-95AF-56EB-F6ADBBE29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8772" y="4746421"/>
                <a:ext cx="23012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5767DD5-80AD-3FEA-710C-7D1544D38179}"/>
                  </a:ext>
                </a:extLst>
              </p:cNvPr>
              <p:cNvSpPr txBox="1"/>
              <p:nvPr/>
            </p:nvSpPr>
            <p:spPr>
              <a:xfrm>
                <a:off x="6172158" y="326382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z</a:t>
                </a:r>
                <a:endParaRPr kumimoji="1"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195B91A-9347-F797-56BE-4A38B2D11702}"/>
                  </a:ext>
                </a:extLst>
              </p:cNvPr>
              <p:cNvSpPr txBox="1"/>
              <p:nvPr/>
            </p:nvSpPr>
            <p:spPr>
              <a:xfrm>
                <a:off x="7893418" y="435503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y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FBC7DA9-BE79-7FF0-C858-A3589287FEA9}"/>
                  </a:ext>
                </a:extLst>
              </p:cNvPr>
              <p:cNvSpPr txBox="1"/>
              <p:nvPr/>
            </p:nvSpPr>
            <p:spPr>
              <a:xfrm>
                <a:off x="4912884" y="533285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x</a:t>
                </a:r>
                <a:endParaRPr kumimoji="1" lang="zh-CN" altLang="en-US" dirty="0"/>
              </a:p>
            </p:txBody>
          </p:sp>
          <p:cxnSp>
            <p:nvCxnSpPr>
              <p:cNvPr id="15" name="直线箭头连接符 14">
                <a:extLst>
                  <a:ext uri="{FF2B5EF4-FFF2-40B4-BE49-F238E27FC236}">
                    <a16:creationId xmlns:a16="http://schemas.microsoft.com/office/drawing/2014/main" id="{7571609D-9918-A70E-0497-F749CFCF02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86376" y="4114782"/>
                <a:ext cx="1752554" cy="14027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弧 20">
              <a:extLst>
                <a:ext uri="{FF2B5EF4-FFF2-40B4-BE49-F238E27FC236}">
                  <a16:creationId xmlns:a16="http://schemas.microsoft.com/office/drawing/2014/main" id="{4369FC94-55C9-D086-0B63-8F167BA7F9A3}"/>
                </a:ext>
              </a:extLst>
            </p:cNvPr>
            <p:cNvSpPr/>
            <p:nvPr/>
          </p:nvSpPr>
          <p:spPr>
            <a:xfrm>
              <a:off x="6004479" y="4267166"/>
              <a:ext cx="914400" cy="914400"/>
            </a:xfrm>
            <a:prstGeom prst="arc">
              <a:avLst>
                <a:gd name="adj1" fmla="val 16200000"/>
                <a:gd name="adj2" fmla="val 559608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D9EEEDBF-2E76-2A57-DB05-4AEDE483BB61}"/>
                    </a:ext>
                  </a:extLst>
                </p14:cNvPr>
                <p14:cNvContentPartPr/>
                <p14:nvPr/>
              </p14:nvContentPartPr>
              <p14:xfrm>
                <a:off x="6164164" y="4613690"/>
                <a:ext cx="564480" cy="28584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D9EEEDBF-2E76-2A57-DB05-4AEDE483BB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58044" y="4607570"/>
                  <a:ext cx="5767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4939B45-955D-BB29-C034-036ED6E87274}"/>
                    </a:ext>
                  </a:extLst>
                </p14:cNvPr>
                <p14:cNvContentPartPr/>
                <p14:nvPr/>
              </p14:nvContentPartPr>
              <p14:xfrm>
                <a:off x="6622444" y="4669130"/>
                <a:ext cx="127440" cy="7020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4939B45-955D-BB29-C034-036ED6E872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6324" y="4663010"/>
                  <a:ext cx="139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10D7D65-E2E5-0916-495E-7A71A6569934}"/>
                    </a:ext>
                  </a:extLst>
                </p:cNvPr>
                <p:cNvSpPr txBox="1"/>
                <p:nvPr/>
              </p:nvSpPr>
              <p:spPr>
                <a:xfrm>
                  <a:off x="5768677" y="4347954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𝝍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10D7D65-E2E5-0916-495E-7A71A6569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8677" y="4347954"/>
                  <a:ext cx="42832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AB59F50-6633-A1C4-3A15-E8B4E9D7A5D3}"/>
                  </a:ext>
                </a:extLst>
              </p:cNvPr>
              <p:cNvSpPr txBox="1"/>
              <p:nvPr/>
            </p:nvSpPr>
            <p:spPr>
              <a:xfrm>
                <a:off x="6985439" y="2764094"/>
                <a:ext cx="208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AB59F50-6633-A1C4-3A15-E8B4E9D7A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439" y="2764094"/>
                <a:ext cx="208390" cy="276999"/>
              </a:xfrm>
              <a:prstGeom prst="rect">
                <a:avLst/>
              </a:prstGeom>
              <a:blipFill>
                <a:blip r:embed="rId9"/>
                <a:stretch>
                  <a:fillRect l="-23529" r="-2352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06242C73-0304-9591-2DEA-22F65F2B897B}"/>
              </a:ext>
            </a:extLst>
          </p:cNvPr>
          <p:cNvSpPr txBox="1"/>
          <p:nvPr/>
        </p:nvSpPr>
        <p:spPr>
          <a:xfrm>
            <a:off x="6632508" y="1886044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Gauss-</a:t>
            </a:r>
            <a:r>
              <a:rPr kumimoji="1" lang="en-US" altLang="zh-CN" dirty="0" err="1"/>
              <a:t>Lagrande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3FAB40-9AEB-0AC3-7299-BFC1D57E6863}"/>
              </a:ext>
            </a:extLst>
          </p:cNvPr>
          <p:cNvSpPr txBox="1"/>
          <p:nvPr/>
        </p:nvSpPr>
        <p:spPr>
          <a:xfrm>
            <a:off x="1551738" y="3853948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Lebedev (Oh)</a:t>
            </a:r>
            <a:endParaRPr kumimoji="1"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581ECE1-4139-8CE3-2704-4618DD5015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9296" y="4495772"/>
            <a:ext cx="1163262" cy="111411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4A5439D5-7A76-BACE-4EB4-05E8538CA0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2558" y="4428998"/>
            <a:ext cx="1308731" cy="124765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C4DDB963-D92E-32BC-76E6-FBB19A2132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700" y="4555848"/>
            <a:ext cx="1120807" cy="112080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521A650F-4BF2-BE07-B50D-AE5325E632DC}"/>
              </a:ext>
            </a:extLst>
          </p:cNvPr>
          <p:cNvSpPr txBox="1"/>
          <p:nvPr/>
        </p:nvSpPr>
        <p:spPr>
          <a:xfrm>
            <a:off x="838298" y="5791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B04B55-A18F-15C9-E355-05A647AF1682}"/>
              </a:ext>
            </a:extLst>
          </p:cNvPr>
          <p:cNvSpPr txBox="1"/>
          <p:nvPr/>
        </p:nvSpPr>
        <p:spPr>
          <a:xfrm>
            <a:off x="1934333" y="5791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</a:t>
            </a:r>
            <a:endParaRPr kumimoji="1"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43A4D85-CBA0-6625-0003-F89E0BE80F8F}"/>
              </a:ext>
            </a:extLst>
          </p:cNvPr>
          <p:cNvSpPr txBox="1"/>
          <p:nvPr/>
        </p:nvSpPr>
        <p:spPr>
          <a:xfrm>
            <a:off x="3170470" y="57911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C52E322-0CD8-E9D1-3539-0EF248687330}"/>
              </a:ext>
            </a:extLst>
          </p:cNvPr>
          <p:cNvGrpSpPr/>
          <p:nvPr/>
        </p:nvGrpSpPr>
        <p:grpSpPr>
          <a:xfrm rot="5400000">
            <a:off x="4142591" y="2251024"/>
            <a:ext cx="1600150" cy="416131"/>
            <a:chOff x="5638772" y="5181554"/>
            <a:chExt cx="1600158" cy="396732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0AB0F01-10F0-4F70-EF1C-529E7B01FB15}"/>
                </a:ext>
              </a:extLst>
            </p:cNvPr>
            <p:cNvSpPr/>
            <p:nvPr/>
          </p:nvSpPr>
          <p:spPr>
            <a:xfrm>
              <a:off x="5638772" y="5181554"/>
              <a:ext cx="312906" cy="369333"/>
            </a:xfrm>
            <a:prstGeom prst="ellipse">
              <a:avLst/>
            </a:prstGeom>
            <a:solidFill>
              <a:srgbClr val="FA6638"/>
            </a:solidFill>
            <a:ln>
              <a:solidFill>
                <a:srgbClr val="FA66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E478951-883A-5A36-E6FD-8063D004DC26}"/>
                </a:ext>
              </a:extLst>
            </p:cNvPr>
            <p:cNvSpPr/>
            <p:nvPr/>
          </p:nvSpPr>
          <p:spPr>
            <a:xfrm>
              <a:off x="6926024" y="5208953"/>
              <a:ext cx="312906" cy="369333"/>
            </a:xfrm>
            <a:prstGeom prst="ellipse">
              <a:avLst/>
            </a:prstGeom>
            <a:solidFill>
              <a:srgbClr val="FA6638"/>
            </a:solidFill>
            <a:ln>
              <a:solidFill>
                <a:srgbClr val="FA66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3DE446F5-BD0A-7498-CB30-EC513AB25F2F}"/>
                </a:ext>
              </a:extLst>
            </p:cNvPr>
            <p:cNvCxnSpPr>
              <a:stCxn id="38" idx="6"/>
              <a:endCxn id="39" idx="2"/>
            </p:cNvCxnSpPr>
            <p:nvPr/>
          </p:nvCxnSpPr>
          <p:spPr>
            <a:xfrm>
              <a:off x="5951678" y="5366221"/>
              <a:ext cx="974346" cy="27399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2ED066D8-C85E-F416-77DD-9AF803E6AFBC}"/>
              </a:ext>
            </a:extLst>
          </p:cNvPr>
          <p:cNvSpPr txBox="1"/>
          <p:nvPr/>
        </p:nvSpPr>
        <p:spPr>
          <a:xfrm>
            <a:off x="4328081" y="5503233"/>
            <a:ext cx="4275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subroutine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generate_angular_grid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0A38169-697D-9855-D638-88E71CE2B002}"/>
              </a:ext>
            </a:extLst>
          </p:cNvPr>
          <p:cNvSpPr txBox="1"/>
          <p:nvPr/>
        </p:nvSpPr>
        <p:spPr>
          <a:xfrm>
            <a:off x="3402498" y="38539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5810</a:t>
            </a:r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B83DC44-2178-04E6-3D77-C70ADE613327}"/>
              </a:ext>
            </a:extLst>
          </p:cNvPr>
          <p:cNvSpPr txBox="1">
            <a:spLocks/>
          </p:cNvSpPr>
          <p:nvPr/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kumimoji="1" lang="zh-CN" altLang="en-US" b="0"/>
              <a:t>原子中心格点</a:t>
            </a:r>
            <a:endParaRPr kumimoji="1" lang="zh-CN" altLang="en-US" b="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1F31F4-3AC6-A5C0-0208-6E0E72C6A88A}"/>
              </a:ext>
            </a:extLst>
          </p:cNvPr>
          <p:cNvSpPr txBox="1"/>
          <p:nvPr/>
        </p:nvSpPr>
        <p:spPr>
          <a:xfrm>
            <a:off x="450700" y="1494827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角度格点</a:t>
            </a:r>
          </a:p>
        </p:txBody>
      </p:sp>
    </p:spTree>
    <p:extLst>
      <p:ext uri="{BB962C8B-B14F-4D97-AF65-F5344CB8AC3E}">
        <p14:creationId xmlns:p14="http://schemas.microsoft.com/office/powerpoint/2010/main" val="4977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F7B324A-D19E-749E-FE22-D7AA0AA15270}"/>
                  </a:ext>
                </a:extLst>
              </p:cNvPr>
              <p:cNvSpPr txBox="1"/>
              <p:nvPr/>
            </p:nvSpPr>
            <p:spPr>
              <a:xfrm>
                <a:off x="990694" y="1371654"/>
                <a:ext cx="21515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dirty="0"/>
                  <a:t>径向</a:t>
                </a:r>
                <a14:m>
                  <m:oMath xmlns:m="http://schemas.openxmlformats.org/officeDocument/2006/math">
                    <m:r>
                      <a:rPr kumimoji="1" lang="en-US" altLang="zh-CN" sz="32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1" lang="zh-CN" altLang="en-US" sz="3200" dirty="0"/>
                  <a:t>角度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F7B324A-D19E-749E-FE22-D7AA0AA1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94" y="1371654"/>
                <a:ext cx="2151551" cy="584775"/>
              </a:xfrm>
              <a:prstGeom prst="rect">
                <a:avLst/>
              </a:prstGeom>
              <a:blipFill>
                <a:blip r:embed="rId2"/>
                <a:stretch>
                  <a:fillRect l="-7647" t="-19149" r="-5882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E4746900-01E7-6D5E-F6DF-00F0209D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90" y="3243214"/>
            <a:ext cx="2151551" cy="20373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17F0BD-5D5D-EA16-4AB4-ED095B82E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220" y="1956429"/>
            <a:ext cx="2151551" cy="20373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FC53D7E-9556-37BC-0BB9-75F596415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811" y="3298691"/>
            <a:ext cx="2151551" cy="20373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2C2CE4C-28D1-C420-83B2-60F472593D86}"/>
                  </a:ext>
                </a:extLst>
              </p:cNvPr>
              <p:cNvSpPr txBox="1"/>
              <p:nvPr/>
            </p:nvSpPr>
            <p:spPr>
              <a:xfrm>
                <a:off x="5562574" y="2381884"/>
                <a:ext cx="2010679" cy="491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p>
                      </m:sSubSup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2C2CE4C-28D1-C420-83B2-60F47259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74" y="2381884"/>
                <a:ext cx="2010679" cy="491353"/>
              </a:xfrm>
              <a:prstGeom prst="rect">
                <a:avLst/>
              </a:prstGeom>
              <a:blipFill>
                <a:blip r:embed="rId4"/>
                <a:stretch>
                  <a:fillRect l="-1250" r="-125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93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04B0C41-7DC7-BE07-1F00-8340A74E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997" y="1456219"/>
            <a:ext cx="5148360" cy="411469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4484F68B-7A34-F6DC-84FC-9EF23B2D03DE}"/>
              </a:ext>
            </a:extLst>
          </p:cNvPr>
          <p:cNvSpPr/>
          <p:nvPr/>
        </p:nvSpPr>
        <p:spPr>
          <a:xfrm>
            <a:off x="2315162" y="3581396"/>
            <a:ext cx="457188" cy="457188"/>
          </a:xfrm>
          <a:prstGeom prst="ellipse">
            <a:avLst/>
          </a:prstGeom>
          <a:noFill/>
          <a:ln w="50800"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977DC5-242A-EFE2-F262-FABAAD7E5129}"/>
              </a:ext>
            </a:extLst>
          </p:cNvPr>
          <p:cNvSpPr txBox="1"/>
          <p:nvPr/>
        </p:nvSpPr>
        <p:spPr>
          <a:xfrm>
            <a:off x="4920048" y="1676446"/>
            <a:ext cx="3688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Partition Function</a:t>
            </a:r>
            <a:endParaRPr kumimoji="1"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D2F5BA-67F5-4C8F-CB2D-CF487E8D891C}"/>
                  </a:ext>
                </a:extLst>
              </p:cNvPr>
              <p:cNvSpPr txBox="1"/>
              <p:nvPr/>
            </p:nvSpPr>
            <p:spPr>
              <a:xfrm>
                <a:off x="5541693" y="2667020"/>
                <a:ext cx="2445541" cy="491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p>
                      </m:sSubSup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D2F5BA-67F5-4C8F-CB2D-CF487E8D8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693" y="2667020"/>
                <a:ext cx="2445541" cy="491353"/>
              </a:xfrm>
              <a:prstGeom prst="rect">
                <a:avLst/>
              </a:prstGeom>
              <a:blipFill>
                <a:blip r:embed="rId3"/>
                <a:stretch>
                  <a:fillRect l="-1554" r="-518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C41D2840-9C42-8CAE-A31D-3AA380FA54BC}"/>
              </a:ext>
            </a:extLst>
          </p:cNvPr>
          <p:cNvSpPr txBox="1"/>
          <p:nvPr/>
        </p:nvSpPr>
        <p:spPr>
          <a:xfrm>
            <a:off x="1963784" y="330451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490EE8-819A-2B21-C71D-80D9FD06B90B}"/>
              </a:ext>
            </a:extLst>
          </p:cNvPr>
          <p:cNvSpPr txBox="1"/>
          <p:nvPr/>
        </p:nvSpPr>
        <p:spPr>
          <a:xfrm>
            <a:off x="2420972" y="311985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E292343-4263-AD1A-F905-9055AE7E0CB9}"/>
              </a:ext>
            </a:extLst>
          </p:cNvPr>
          <p:cNvSpPr txBox="1"/>
          <p:nvPr/>
        </p:nvSpPr>
        <p:spPr>
          <a:xfrm>
            <a:off x="2730486" y="343206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C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1429940-FBBF-993A-54D0-CC161CB21601}"/>
              </a:ext>
            </a:extLst>
          </p:cNvPr>
          <p:cNvGrpSpPr/>
          <p:nvPr/>
        </p:nvGrpSpPr>
        <p:grpSpPr>
          <a:xfrm>
            <a:off x="4876792" y="3352802"/>
            <a:ext cx="3809900" cy="2926805"/>
            <a:chOff x="4876792" y="3352802"/>
            <a:chExt cx="3809900" cy="2926805"/>
          </a:xfrm>
        </p:grpSpPr>
        <p:graphicFrame>
          <p:nvGraphicFramePr>
            <p:cNvPr id="14" name="图表 13">
              <a:extLst>
                <a:ext uri="{FF2B5EF4-FFF2-40B4-BE49-F238E27FC236}">
                  <a16:creationId xmlns:a16="http://schemas.microsoft.com/office/drawing/2014/main" id="{811014EC-4A73-6A99-39F7-3A43A729534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62266881"/>
                </p:ext>
              </p:extLst>
            </p:nvPr>
          </p:nvGraphicFramePr>
          <p:xfrm>
            <a:off x="4876792" y="3352802"/>
            <a:ext cx="3809900" cy="25477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F8FC69E-8463-C9D0-EA10-8A9863CDCABC}"/>
                </a:ext>
              </a:extLst>
            </p:cNvPr>
            <p:cNvSpPr txBox="1"/>
            <p:nvPr/>
          </p:nvSpPr>
          <p:spPr>
            <a:xfrm>
              <a:off x="5052618" y="5570911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0.4</a:t>
              </a:r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7A73A99-6E51-1855-93CD-15E90763D381}"/>
                </a:ext>
              </a:extLst>
            </p:cNvPr>
            <p:cNvSpPr txBox="1"/>
            <p:nvPr/>
          </p:nvSpPr>
          <p:spPr>
            <a:xfrm>
              <a:off x="5729183" y="5910275"/>
              <a:ext cx="22580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Self Adaptive Grid</a:t>
              </a:r>
              <a:endParaRPr lang="zh-CN" altLang="en-US" sz="18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8D373B4-CBB3-075E-60DB-F2B90F5E1EEF}"/>
                </a:ext>
              </a:extLst>
            </p:cNvPr>
            <p:cNvSpPr txBox="1"/>
            <p:nvPr/>
          </p:nvSpPr>
          <p:spPr>
            <a:xfrm>
              <a:off x="6019762" y="5531180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3.0</a:t>
              </a:r>
              <a:endParaRPr kumimoji="1"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55E6C02-426E-1DB7-506F-FE6B6235E02B}"/>
                </a:ext>
              </a:extLst>
            </p:cNvPr>
            <p:cNvSpPr txBox="1"/>
            <p:nvPr/>
          </p:nvSpPr>
          <p:spPr>
            <a:xfrm>
              <a:off x="7130766" y="5531180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6.5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213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9D032-75CA-C9E6-8411-11501A9C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Partition Function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2807470-B0C5-532B-0F2A-A5E3A3A37D6F}"/>
                  </a:ext>
                </a:extLst>
              </p:cNvPr>
              <p:cNvSpPr txBox="1"/>
              <p:nvPr/>
            </p:nvSpPr>
            <p:spPr>
              <a:xfrm>
                <a:off x="2585831" y="1447875"/>
                <a:ext cx="2445541" cy="491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p>
                      </m:sSubSup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2807470-B0C5-532B-0F2A-A5E3A3A37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831" y="1447875"/>
                <a:ext cx="2445541" cy="491353"/>
              </a:xfrm>
              <a:prstGeom prst="rect">
                <a:avLst/>
              </a:prstGeom>
              <a:blipFill>
                <a:blip r:embed="rId2"/>
                <a:stretch>
                  <a:fillRect l="-1036" r="-518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DBF7A2-856B-9BC2-54D4-F4A33B5D55CC}"/>
                  </a:ext>
                </a:extLst>
              </p:cNvPr>
              <p:cNvSpPr txBox="1"/>
              <p:nvPr/>
            </p:nvSpPr>
            <p:spPr>
              <a:xfrm>
                <a:off x="5333980" y="1410359"/>
                <a:ext cx="1971822" cy="7741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DBF7A2-856B-9BC2-54D4-F4A33B5D5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80" y="1410359"/>
                <a:ext cx="1971822" cy="774123"/>
              </a:xfrm>
              <a:prstGeom prst="rect">
                <a:avLst/>
              </a:prstGeom>
              <a:blipFill>
                <a:blip r:embed="rId3"/>
                <a:stretch>
                  <a:fillRect t="-30645" b="-1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2B765AD-277D-6777-8D29-682ACB346768}"/>
                  </a:ext>
                </a:extLst>
              </p:cNvPr>
              <p:cNvSpPr txBox="1"/>
              <p:nvPr/>
            </p:nvSpPr>
            <p:spPr>
              <a:xfrm>
                <a:off x="1358476" y="2169476"/>
                <a:ext cx="24547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0" smtClean="0">
                              <a:latin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𝑪𝑩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2B765AD-277D-6777-8D29-682ACB34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476" y="2169476"/>
                <a:ext cx="2454711" cy="430887"/>
              </a:xfrm>
              <a:prstGeom prst="rect">
                <a:avLst/>
              </a:prstGeom>
              <a:blipFill>
                <a:blip r:embed="rId4"/>
                <a:stretch>
                  <a:fillRect l="-4124" r="-515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92E3F90-7085-D34F-38E6-04BF6C11EF37}"/>
                  </a:ext>
                </a:extLst>
              </p:cNvPr>
              <p:cNvSpPr txBox="1"/>
              <p:nvPr/>
            </p:nvSpPr>
            <p:spPr>
              <a:xfrm>
                <a:off x="762100" y="2819416"/>
                <a:ext cx="7226850" cy="838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𝑪𝑩</m:t>
                          </m:r>
                        </m:sub>
                      </m:sSub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𝑪𝑩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𝑪𝑩</m:t>
                          </m:r>
                        </m:sub>
                      </m:sSub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sub>
                              </m:s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−|</m:t>
                          </m:r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92E3F90-7085-D34F-38E6-04BF6C11E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0" y="2819416"/>
                <a:ext cx="7226850" cy="838178"/>
              </a:xfrm>
              <a:prstGeom prst="rect">
                <a:avLst/>
              </a:prstGeom>
              <a:blipFill>
                <a:blip r:embed="rId5"/>
                <a:stretch>
                  <a:fillRect l="-526" r="-70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E5BDBCBC-217E-2347-E856-B5C2E137D0A5}"/>
              </a:ext>
            </a:extLst>
          </p:cNvPr>
          <p:cNvGrpSpPr/>
          <p:nvPr/>
        </p:nvGrpSpPr>
        <p:grpSpPr>
          <a:xfrm>
            <a:off x="865769" y="3880499"/>
            <a:ext cx="6813399" cy="691471"/>
            <a:chOff x="865769" y="3728103"/>
            <a:chExt cx="6813399" cy="6914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AF76AA4-40D1-709B-7FD9-209BF4DE4209}"/>
                    </a:ext>
                  </a:extLst>
                </p:cNvPr>
                <p:cNvSpPr txBox="1"/>
                <p:nvPr/>
              </p:nvSpPr>
              <p:spPr>
                <a:xfrm>
                  <a:off x="865769" y="3728103"/>
                  <a:ext cx="5454122" cy="6914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  <m:d>
                          <m:d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  <m:d>
                              <m:dPr>
                                <m:ctrlP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d>
                                  <m:dPr>
                                    <m:ctrlPr>
                                      <a:rPr kumimoji="1"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  <m:d>
                          <m:d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AF76AA4-40D1-709B-7FD9-209BF4DE4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769" y="3728103"/>
                  <a:ext cx="5454122" cy="691471"/>
                </a:xfrm>
                <a:prstGeom prst="rect">
                  <a:avLst/>
                </a:prstGeom>
                <a:blipFill>
                  <a:blip r:embed="rId6"/>
                  <a:stretch>
                    <a:fillRect l="-1163" b="-1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1ECED36-D553-C176-85A6-E68447119B8E}"/>
                </a:ext>
              </a:extLst>
            </p:cNvPr>
            <p:cNvSpPr txBox="1"/>
            <p:nvPr/>
          </p:nvSpPr>
          <p:spPr>
            <a:xfrm>
              <a:off x="6585599" y="3866273"/>
              <a:ext cx="10935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 err="1"/>
                <a:t>Becke</a:t>
              </a:r>
              <a:endParaRPr kumimoji="1" lang="zh-CN" altLang="en-US" sz="24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165CCE9-8BCC-02E6-662E-D45610BC758A}"/>
              </a:ext>
            </a:extLst>
          </p:cNvPr>
          <p:cNvGrpSpPr/>
          <p:nvPr/>
        </p:nvGrpSpPr>
        <p:grpSpPr>
          <a:xfrm>
            <a:off x="5333896" y="2209832"/>
            <a:ext cx="3226561" cy="502573"/>
            <a:chOff x="5333896" y="2133634"/>
            <a:chExt cx="3226561" cy="502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2AB2657-16C9-F1A3-87E6-67773B8CA9AF}"/>
                    </a:ext>
                  </a:extLst>
                </p:cNvPr>
                <p:cNvSpPr txBox="1"/>
                <p:nvPr/>
              </p:nvSpPr>
              <p:spPr>
                <a:xfrm>
                  <a:off x="5333896" y="2133634"/>
                  <a:ext cx="2143728" cy="5025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  <m:sup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2AB2657-16C9-F1A3-87E6-67773B8CA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896" y="2133634"/>
                  <a:ext cx="2143728" cy="502573"/>
                </a:xfrm>
                <a:prstGeom prst="rect">
                  <a:avLst/>
                </a:prstGeom>
                <a:blipFill>
                  <a:blip r:embed="rId7"/>
                  <a:stretch>
                    <a:fillRect l="-4734" r="-5325" b="-2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D34A1DC-966F-F0DE-9250-1130CF78FAD5}"/>
                </a:ext>
              </a:extLst>
            </p:cNvPr>
            <p:cNvSpPr txBox="1"/>
            <p:nvPr/>
          </p:nvSpPr>
          <p:spPr>
            <a:xfrm>
              <a:off x="7696118" y="2209832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Delley</a:t>
              </a:r>
              <a:endParaRPr kumimoji="1" lang="zh-CN" alt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721C5C-20F5-B3E7-B109-28740061825A}"/>
              </a:ext>
            </a:extLst>
          </p:cNvPr>
          <p:cNvGrpSpPr/>
          <p:nvPr/>
        </p:nvGrpSpPr>
        <p:grpSpPr>
          <a:xfrm>
            <a:off x="871236" y="4825928"/>
            <a:ext cx="6755468" cy="1346200"/>
            <a:chOff x="871236" y="4575848"/>
            <a:chExt cx="6755468" cy="13462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046EF26-019B-ECA4-2EE9-8940B9E4E975}"/>
                </a:ext>
              </a:extLst>
            </p:cNvPr>
            <p:cNvSpPr txBox="1"/>
            <p:nvPr/>
          </p:nvSpPr>
          <p:spPr>
            <a:xfrm>
              <a:off x="6844117" y="5055078"/>
              <a:ext cx="7825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/>
                <a:t>SSF</a:t>
              </a:r>
              <a:endParaRPr kumimoji="1"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A4C5AB4-AFA9-EC8C-F076-091C27BA36BC}"/>
                    </a:ext>
                  </a:extLst>
                </p:cNvPr>
                <p:cNvSpPr txBox="1"/>
                <p:nvPr/>
              </p:nvSpPr>
              <p:spPr>
                <a:xfrm>
                  <a:off x="871236" y="5064282"/>
                  <a:ext cx="102701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A4C5AB4-AFA9-EC8C-F076-091C27BA3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236" y="5064282"/>
                  <a:ext cx="1027011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9756" r="-122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CCEFC07-37D9-58E5-6FB8-BF44B3DF0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51856" y="4575848"/>
              <a:ext cx="4102100" cy="1346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501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2DBDE-3539-8E86-70D3-56FFCB40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4000" dirty="0"/>
              <a:t>在格点上的计算：基组，分块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B49F7D-2AD4-690D-84CA-22E0C80A612C}"/>
              </a:ext>
            </a:extLst>
          </p:cNvPr>
          <p:cNvSpPr txBox="1"/>
          <p:nvPr/>
        </p:nvSpPr>
        <p:spPr>
          <a:xfrm>
            <a:off x="555761" y="1524050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格点上的基组计算：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555A915-D4EC-24E6-2B06-5C7E0895F964}"/>
                  </a:ext>
                </a:extLst>
              </p:cNvPr>
              <p:cNvSpPr txBox="1"/>
              <p:nvPr/>
            </p:nvSpPr>
            <p:spPr>
              <a:xfrm>
                <a:off x="2525534" y="2026560"/>
                <a:ext cx="4131836" cy="346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𝝌</m:t>
                      </m:r>
                      <m:d>
                        <m:d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⃗"/>
                              <m:ctrlPr>
                                <a:rPr kumimoji="1"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acc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𝒍𝒎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sSup>
                            <m:sSupPr>
                              <m:ctrlPr>
                                <a:rPr kumimoji="1"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𝒍𝒎</m:t>
                          </m:r>
                        </m:sub>
                      </m:sSub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555A915-D4EC-24E6-2B06-5C7E0895F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534" y="2026560"/>
                <a:ext cx="4131836" cy="346762"/>
              </a:xfrm>
              <a:prstGeom prst="rect">
                <a:avLst/>
              </a:prstGeom>
              <a:blipFill>
                <a:blip r:embed="rId2"/>
                <a:stretch>
                  <a:fillRect r="-30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E7DA04E6-5704-576C-09A6-9A596FC59467}"/>
              </a:ext>
            </a:extLst>
          </p:cNvPr>
          <p:cNvGrpSpPr/>
          <p:nvPr/>
        </p:nvGrpSpPr>
        <p:grpSpPr>
          <a:xfrm>
            <a:off x="87335" y="2672667"/>
            <a:ext cx="1841888" cy="3347064"/>
            <a:chOff x="457308" y="2513553"/>
            <a:chExt cx="1841888" cy="3201387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87D8907-0ACA-B3D8-0F6B-A4B0377E5829}"/>
                </a:ext>
              </a:extLst>
            </p:cNvPr>
            <p:cNvGrpSpPr/>
            <p:nvPr/>
          </p:nvGrpSpPr>
          <p:grpSpPr>
            <a:xfrm>
              <a:off x="1219289" y="2790556"/>
              <a:ext cx="1066772" cy="2924384"/>
              <a:chOff x="2419947" y="3095348"/>
              <a:chExt cx="1503144" cy="204382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B683E3F-6330-BB8E-8831-A03DCB79FA17}"/>
                  </a:ext>
                </a:extLst>
              </p:cNvPr>
              <p:cNvSpPr/>
              <p:nvPr/>
            </p:nvSpPr>
            <p:spPr>
              <a:xfrm>
                <a:off x="2438456" y="3124208"/>
                <a:ext cx="1484633" cy="20149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9" name="斜纹 18">
                <a:extLst>
                  <a:ext uri="{FF2B5EF4-FFF2-40B4-BE49-F238E27FC236}">
                    <a16:creationId xmlns:a16="http://schemas.microsoft.com/office/drawing/2014/main" id="{8E48C74C-F01B-544E-AE2D-F431A3D0AB28}"/>
                  </a:ext>
                </a:extLst>
              </p:cNvPr>
              <p:cNvSpPr/>
              <p:nvPr/>
            </p:nvSpPr>
            <p:spPr>
              <a:xfrm rot="5400000">
                <a:off x="2164035" y="3380120"/>
                <a:ext cx="2014966" cy="1503142"/>
              </a:xfrm>
              <a:prstGeom prst="diagStripe">
                <a:avLst>
                  <a:gd name="adj" fmla="val 6997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斜纹 19">
                <a:extLst>
                  <a:ext uri="{FF2B5EF4-FFF2-40B4-BE49-F238E27FC236}">
                    <a16:creationId xmlns:a16="http://schemas.microsoft.com/office/drawing/2014/main" id="{276B714B-3AD6-1949-3CB1-9CE0DBCC0005}"/>
                  </a:ext>
                </a:extLst>
              </p:cNvPr>
              <p:cNvSpPr/>
              <p:nvPr/>
            </p:nvSpPr>
            <p:spPr>
              <a:xfrm rot="16200000">
                <a:off x="2149606" y="3365691"/>
                <a:ext cx="2043828" cy="1503142"/>
              </a:xfrm>
              <a:prstGeom prst="diagStripe">
                <a:avLst>
                  <a:gd name="adj" fmla="val 6997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6F00CA7-8C3C-D435-BE46-6E524A7A4B89}"/>
                    </a:ext>
                  </a:extLst>
                </p:cNvPr>
                <p:cNvSpPr txBox="1"/>
                <p:nvPr/>
              </p:nvSpPr>
              <p:spPr>
                <a:xfrm>
                  <a:off x="457308" y="3947956"/>
                  <a:ext cx="1066771" cy="304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6F00CA7-8C3C-D435-BE46-6E524A7A4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08" y="3947956"/>
                  <a:ext cx="1066771" cy="304792"/>
                </a:xfrm>
                <a:prstGeom prst="rect">
                  <a:avLst/>
                </a:prstGeom>
                <a:blipFill>
                  <a:blip r:embed="rId3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EB1C379-6FB4-131E-A819-65D2E46BB6DE}"/>
                    </a:ext>
                  </a:extLst>
                </p:cNvPr>
                <p:cNvSpPr txBox="1"/>
                <p:nvPr/>
              </p:nvSpPr>
              <p:spPr>
                <a:xfrm>
                  <a:off x="1232425" y="2513553"/>
                  <a:ext cx="1066771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EB1C379-6FB4-131E-A819-65D2E46BB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425" y="2513553"/>
                  <a:ext cx="1066771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B91DB75-BF00-C1D0-E6BA-7163213E7392}"/>
              </a:ext>
            </a:extLst>
          </p:cNvPr>
          <p:cNvGrpSpPr/>
          <p:nvPr/>
        </p:nvGrpSpPr>
        <p:grpSpPr>
          <a:xfrm>
            <a:off x="2734057" y="3800878"/>
            <a:ext cx="5735646" cy="461405"/>
            <a:chOff x="3214201" y="3382397"/>
            <a:chExt cx="5735646" cy="461405"/>
          </a:xfrm>
        </p:grpSpPr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CEE9B64F-C838-9ADF-8A1C-B2F41EC4D4C9}"/>
                </a:ext>
              </a:extLst>
            </p:cNvPr>
            <p:cNvCxnSpPr/>
            <p:nvPr/>
          </p:nvCxnSpPr>
          <p:spPr>
            <a:xfrm rot="382513">
              <a:off x="3214201" y="3484735"/>
              <a:ext cx="761980" cy="290362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3EE15D8B-5FF8-2739-D41A-98FF76F6CF67}"/>
                </a:ext>
              </a:extLst>
            </p:cNvPr>
            <p:cNvCxnSpPr>
              <a:cxnSpLocks/>
            </p:cNvCxnSpPr>
            <p:nvPr/>
          </p:nvCxnSpPr>
          <p:spPr>
            <a:xfrm rot="382513">
              <a:off x="4441950" y="3475826"/>
              <a:ext cx="761978" cy="290362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5808DE29-6088-DCC4-EF91-45B302F59EE1}"/>
                </a:ext>
              </a:extLst>
            </p:cNvPr>
            <p:cNvCxnSpPr>
              <a:cxnSpLocks/>
            </p:cNvCxnSpPr>
            <p:nvPr/>
          </p:nvCxnSpPr>
          <p:spPr>
            <a:xfrm rot="382513" flipH="1">
              <a:off x="3980472" y="3407690"/>
              <a:ext cx="457186" cy="435543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A5655EA0-78E1-C97E-DCCC-235BB7376FF7}"/>
                </a:ext>
              </a:extLst>
            </p:cNvPr>
            <p:cNvCxnSpPr/>
            <p:nvPr/>
          </p:nvCxnSpPr>
          <p:spPr>
            <a:xfrm rot="382513">
              <a:off x="5667642" y="3485304"/>
              <a:ext cx="761980" cy="290362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7F375FF9-7D46-64D3-53BE-C5277648A1BD}"/>
                </a:ext>
              </a:extLst>
            </p:cNvPr>
            <p:cNvCxnSpPr>
              <a:cxnSpLocks/>
            </p:cNvCxnSpPr>
            <p:nvPr/>
          </p:nvCxnSpPr>
          <p:spPr>
            <a:xfrm rot="382513" flipH="1">
              <a:off x="6433911" y="3408259"/>
              <a:ext cx="457186" cy="435543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2D845106-AA00-5A26-6F42-A93C660657F3}"/>
                </a:ext>
              </a:extLst>
            </p:cNvPr>
            <p:cNvCxnSpPr>
              <a:cxnSpLocks/>
            </p:cNvCxnSpPr>
            <p:nvPr/>
          </p:nvCxnSpPr>
          <p:spPr>
            <a:xfrm rot="382513" flipH="1">
              <a:off x="5207364" y="3406434"/>
              <a:ext cx="457186" cy="435543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75CA2E01-8520-820F-DD63-60ADC8356868}"/>
                </a:ext>
              </a:extLst>
            </p:cNvPr>
            <p:cNvCxnSpPr/>
            <p:nvPr/>
          </p:nvCxnSpPr>
          <p:spPr>
            <a:xfrm rot="382513">
              <a:off x="6896760" y="3464109"/>
              <a:ext cx="761980" cy="290362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68ABF6B7-F45C-BA52-8F91-1ED5DCE5E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0263" y="3382397"/>
              <a:ext cx="570288" cy="413481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FCEB1B79-F666-884D-71D7-FC48ECB5F0A8}"/>
                </a:ext>
              </a:extLst>
            </p:cNvPr>
            <p:cNvCxnSpPr/>
            <p:nvPr/>
          </p:nvCxnSpPr>
          <p:spPr>
            <a:xfrm rot="382513">
              <a:off x="8187867" y="3423804"/>
              <a:ext cx="761980" cy="290362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86B712A-BEC9-7318-04A4-F1258FE4595E}"/>
              </a:ext>
            </a:extLst>
          </p:cNvPr>
          <p:cNvGrpSpPr/>
          <p:nvPr/>
        </p:nvGrpSpPr>
        <p:grpSpPr>
          <a:xfrm>
            <a:off x="2276857" y="3352802"/>
            <a:ext cx="6601643" cy="1351207"/>
            <a:chOff x="2321553" y="2961458"/>
            <a:chExt cx="6601643" cy="1351207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7E52508-B22D-1A9E-C32C-B10D7162E7C2}"/>
                </a:ext>
              </a:extLst>
            </p:cNvPr>
            <p:cNvSpPr/>
            <p:nvPr/>
          </p:nvSpPr>
          <p:spPr>
            <a:xfrm>
              <a:off x="2321553" y="3054161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D3281FE8-D8BE-764D-0F4E-2B4707533FF8}"/>
                </a:ext>
              </a:extLst>
            </p:cNvPr>
            <p:cNvSpPr/>
            <p:nvPr/>
          </p:nvSpPr>
          <p:spPr>
            <a:xfrm>
              <a:off x="6702066" y="3385281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4387AD9B-0961-EF3C-731E-7288AA72065F}"/>
                </a:ext>
              </a:extLst>
            </p:cNvPr>
            <p:cNvSpPr/>
            <p:nvPr/>
          </p:nvSpPr>
          <p:spPr>
            <a:xfrm>
              <a:off x="3029551" y="3368069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9E27A6C-8611-38DF-ED05-0F3CC2578199}"/>
                </a:ext>
              </a:extLst>
            </p:cNvPr>
            <p:cNvSpPr/>
            <p:nvPr/>
          </p:nvSpPr>
          <p:spPr>
            <a:xfrm>
              <a:off x="4765205" y="3023822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5B47323-E9CC-A591-36A4-0E4B2C2DA09C}"/>
                </a:ext>
              </a:extLst>
            </p:cNvPr>
            <p:cNvSpPr/>
            <p:nvPr/>
          </p:nvSpPr>
          <p:spPr>
            <a:xfrm>
              <a:off x="5485563" y="3396998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1D708B4B-6294-39EC-9E1C-BC4C617D2721}"/>
                </a:ext>
              </a:extLst>
            </p:cNvPr>
            <p:cNvSpPr/>
            <p:nvPr/>
          </p:nvSpPr>
          <p:spPr>
            <a:xfrm>
              <a:off x="6031309" y="3012105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79993C3-425E-AF7A-B758-E913216FC839}"/>
                </a:ext>
              </a:extLst>
            </p:cNvPr>
            <p:cNvSpPr/>
            <p:nvPr/>
          </p:nvSpPr>
          <p:spPr>
            <a:xfrm>
              <a:off x="7303186" y="2961458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5C0DA8E6-A8FB-4FAC-7E26-76D96F282F60}"/>
                </a:ext>
              </a:extLst>
            </p:cNvPr>
            <p:cNvSpPr/>
            <p:nvPr/>
          </p:nvSpPr>
          <p:spPr>
            <a:xfrm>
              <a:off x="8008796" y="3358961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102E4D9D-694E-BDF9-7973-2DFAE68F0E8F}"/>
                </a:ext>
              </a:extLst>
            </p:cNvPr>
            <p:cNvSpPr/>
            <p:nvPr/>
          </p:nvSpPr>
          <p:spPr>
            <a:xfrm>
              <a:off x="3562914" y="3037311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874450B8-77B2-5DC6-03A1-83A005CF9774}"/>
                </a:ext>
              </a:extLst>
            </p:cNvPr>
            <p:cNvSpPr/>
            <p:nvPr/>
          </p:nvSpPr>
          <p:spPr>
            <a:xfrm>
              <a:off x="4259292" y="3398265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55" name="图片 54">
            <a:extLst>
              <a:ext uri="{FF2B5EF4-FFF2-40B4-BE49-F238E27FC236}">
                <a16:creationId xmlns:a16="http://schemas.microsoft.com/office/drawing/2014/main" id="{2B459320-0717-0BF1-CD15-B466923F1B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211" r="3054" b="8304"/>
          <a:stretch/>
        </p:blipFill>
        <p:spPr>
          <a:xfrm>
            <a:off x="6598307" y="1393060"/>
            <a:ext cx="2234766" cy="1701162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6DB28AF5-C234-7E58-D313-A0403D43C75A}"/>
              </a:ext>
            </a:extLst>
          </p:cNvPr>
          <p:cNvSpPr txBox="1"/>
          <p:nvPr/>
        </p:nvSpPr>
        <p:spPr>
          <a:xfrm>
            <a:off x="2574478" y="5317855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“</a:t>
            </a:r>
            <a:r>
              <a:rPr kumimoji="1" lang="zh-CN" altLang="en-US" dirty="0"/>
              <a:t>稀疏矩阵</a:t>
            </a:r>
            <a:r>
              <a:rPr kumimoji="1" lang="en-US" altLang="zh-CN" dirty="0"/>
              <a:t>”</a:t>
            </a:r>
            <a:endParaRPr kumimoji="1" lang="zh-CN" altLang="en-US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3E92609-B3B8-8194-0482-C5A8738167DC}"/>
              </a:ext>
            </a:extLst>
          </p:cNvPr>
          <p:cNvGrpSpPr/>
          <p:nvPr/>
        </p:nvGrpSpPr>
        <p:grpSpPr>
          <a:xfrm>
            <a:off x="834632" y="3276604"/>
            <a:ext cx="1109275" cy="2438336"/>
            <a:chOff x="834632" y="3276604"/>
            <a:chExt cx="1109275" cy="2438336"/>
          </a:xfrm>
        </p:grpSpPr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07B49C37-1D8A-6D90-38E6-E212B945CB53}"/>
                </a:ext>
              </a:extLst>
            </p:cNvPr>
            <p:cNvCxnSpPr>
              <a:cxnSpLocks/>
            </p:cNvCxnSpPr>
            <p:nvPr/>
          </p:nvCxnSpPr>
          <p:spPr>
            <a:xfrm>
              <a:off x="847768" y="3276604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385E7D95-C93A-ACD0-E5B0-6CE7DA48A49A}"/>
                </a:ext>
              </a:extLst>
            </p:cNvPr>
            <p:cNvCxnSpPr>
              <a:cxnSpLocks/>
            </p:cNvCxnSpPr>
            <p:nvPr/>
          </p:nvCxnSpPr>
          <p:spPr>
            <a:xfrm>
              <a:off x="862452" y="3581404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3DE0A0EB-1219-4E05-1AE9-815C86719BFB}"/>
                </a:ext>
              </a:extLst>
            </p:cNvPr>
            <p:cNvCxnSpPr>
              <a:cxnSpLocks/>
            </p:cNvCxnSpPr>
            <p:nvPr/>
          </p:nvCxnSpPr>
          <p:spPr>
            <a:xfrm>
              <a:off x="834632" y="4495772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D5197ECB-CC78-EFC5-2170-2CE8A7F2A23E}"/>
                </a:ext>
              </a:extLst>
            </p:cNvPr>
            <p:cNvCxnSpPr>
              <a:cxnSpLocks/>
            </p:cNvCxnSpPr>
            <p:nvPr/>
          </p:nvCxnSpPr>
          <p:spPr>
            <a:xfrm>
              <a:off x="858869" y="3880975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33CFC24C-3FCB-BAED-E739-4166A3B447CE}"/>
                </a:ext>
              </a:extLst>
            </p:cNvPr>
            <p:cNvCxnSpPr>
              <a:cxnSpLocks/>
            </p:cNvCxnSpPr>
            <p:nvPr/>
          </p:nvCxnSpPr>
          <p:spPr>
            <a:xfrm>
              <a:off x="862451" y="4190980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FF1A52B2-555D-C4F7-771B-A2323C72DAFB}"/>
                </a:ext>
              </a:extLst>
            </p:cNvPr>
            <p:cNvCxnSpPr>
              <a:cxnSpLocks/>
            </p:cNvCxnSpPr>
            <p:nvPr/>
          </p:nvCxnSpPr>
          <p:spPr>
            <a:xfrm>
              <a:off x="838298" y="4800564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AE55F249-1C94-C9C7-0740-3CBFE326E067}"/>
                </a:ext>
              </a:extLst>
            </p:cNvPr>
            <p:cNvCxnSpPr>
              <a:cxnSpLocks/>
            </p:cNvCxnSpPr>
            <p:nvPr/>
          </p:nvCxnSpPr>
          <p:spPr>
            <a:xfrm>
              <a:off x="838298" y="5105356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979F9C19-EC63-D95D-1F7B-7218112DBCC7}"/>
                </a:ext>
              </a:extLst>
            </p:cNvPr>
            <p:cNvCxnSpPr>
              <a:cxnSpLocks/>
            </p:cNvCxnSpPr>
            <p:nvPr/>
          </p:nvCxnSpPr>
          <p:spPr>
            <a:xfrm>
              <a:off x="838298" y="5410148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5AAACD60-9EAF-5F2B-F32E-8E42F33337B7}"/>
                </a:ext>
              </a:extLst>
            </p:cNvPr>
            <p:cNvCxnSpPr>
              <a:cxnSpLocks/>
            </p:cNvCxnSpPr>
            <p:nvPr/>
          </p:nvCxnSpPr>
          <p:spPr>
            <a:xfrm>
              <a:off x="838298" y="5714940"/>
              <a:ext cx="10814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B98331CB-3976-7C22-E654-8AF66C05AFA0}"/>
              </a:ext>
            </a:extLst>
          </p:cNvPr>
          <p:cNvSpPr txBox="1"/>
          <p:nvPr/>
        </p:nvSpPr>
        <p:spPr>
          <a:xfrm>
            <a:off x="4573469" y="5208185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00FF"/>
                </a:solidFill>
              </a:rPr>
              <a:t>Storage, Cache…</a:t>
            </a:r>
            <a:endParaRPr kumimoji="1"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6CD9601-E47B-6A98-C05D-DF7577324DEF}"/>
              </a:ext>
            </a:extLst>
          </p:cNvPr>
          <p:cNvSpPr txBox="1"/>
          <p:nvPr/>
        </p:nvSpPr>
        <p:spPr>
          <a:xfrm>
            <a:off x="4612186" y="5755072"/>
            <a:ext cx="25680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rgbClr val="FF0000"/>
                </a:solidFill>
              </a:rPr>
              <a:t>Grid Batch (128)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74DC315-09BC-3DB3-9D46-855BC8B4AA9B}"/>
                  </a:ext>
                </a:extLst>
              </p:cNvPr>
              <p:cNvSpPr txBox="1"/>
              <p:nvPr/>
            </p:nvSpPr>
            <p:spPr>
              <a:xfrm>
                <a:off x="1484185" y="2635633"/>
                <a:ext cx="1066771" cy="3515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  <m:sup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𝒈𝒃</m:t>
                          </m:r>
                        </m:sup>
                      </m:sSubSup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74DC315-09BC-3DB3-9D46-855BC8B4A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185" y="2635633"/>
                <a:ext cx="1066771" cy="351506"/>
              </a:xfrm>
              <a:prstGeom prst="rect">
                <a:avLst/>
              </a:prstGeom>
              <a:blipFill>
                <a:blip r:embed="rId6"/>
                <a:stretch>
                  <a:fillRect t="-6897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A567BE96-A6A0-E044-C1D6-DC0C0E8464CB}"/>
              </a:ext>
            </a:extLst>
          </p:cNvPr>
          <p:cNvGrpSpPr/>
          <p:nvPr/>
        </p:nvGrpSpPr>
        <p:grpSpPr>
          <a:xfrm>
            <a:off x="98926" y="4628775"/>
            <a:ext cx="1066771" cy="582593"/>
            <a:chOff x="-46851" y="5123193"/>
            <a:chExt cx="1066771" cy="58259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9C8B19D-39EA-807C-4775-A213C5448517}"/>
                    </a:ext>
                  </a:extLst>
                </p:cNvPr>
                <p:cNvSpPr txBox="1"/>
                <p:nvPr/>
              </p:nvSpPr>
              <p:spPr>
                <a:xfrm>
                  <a:off x="-46851" y="5402498"/>
                  <a:ext cx="1066771" cy="3032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𝒈𝒃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9C8B19D-39EA-807C-4775-A213C5448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6851" y="5402498"/>
                  <a:ext cx="1066771" cy="303288"/>
                </a:xfrm>
                <a:prstGeom prst="rect">
                  <a:avLst/>
                </a:prstGeom>
                <a:blipFill>
                  <a:blip r:embed="rId7"/>
                  <a:stretch>
                    <a:fillRect b="-2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线箭头连接符 75">
              <a:extLst>
                <a:ext uri="{FF2B5EF4-FFF2-40B4-BE49-F238E27FC236}">
                  <a16:creationId xmlns:a16="http://schemas.microsoft.com/office/drawing/2014/main" id="{5C6DFECD-BDE5-9821-D6F6-D2C1C2A6C6D6}"/>
                </a:ext>
              </a:extLst>
            </p:cNvPr>
            <p:cNvCxnSpPr>
              <a:cxnSpLocks/>
              <a:endCxn id="74" idx="0"/>
            </p:cNvCxnSpPr>
            <p:nvPr/>
          </p:nvCxnSpPr>
          <p:spPr>
            <a:xfrm>
              <a:off x="486535" y="5123193"/>
              <a:ext cx="0" cy="27930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A40D9DC4-95BD-D729-E945-61D392B361DF}"/>
                  </a:ext>
                </a:extLst>
              </p:cNvPr>
              <p:cNvSpPr txBox="1"/>
              <p:nvPr/>
            </p:nvSpPr>
            <p:spPr>
              <a:xfrm>
                <a:off x="2637274" y="2588003"/>
                <a:ext cx="3874715" cy="663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b>
                            <m:sup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𝒄𝒖𝒕</m:t>
                              </m:r>
                            </m:sup>
                          </m:sSubSup>
                        </m:e>
                      </m:d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𝒄𝒖𝒕</m:t>
                              </m:r>
                            </m:sup>
                          </m:sSubSup>
                        </m:sub>
                        <m:sup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b>
                            <m:sup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d>
                            <m:dPr>
                              <m:ctrlP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sSup>
                            <m:sSupPr>
                              <m:ctrlP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𝒅𝒓</m:t>
                          </m:r>
                        </m:e>
                      </m:nary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A40D9DC4-95BD-D729-E945-61D392B36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274" y="2588003"/>
                <a:ext cx="3874715" cy="663067"/>
              </a:xfrm>
              <a:prstGeom prst="rect">
                <a:avLst/>
              </a:prstGeom>
              <a:blipFill>
                <a:blip r:embed="rId8"/>
                <a:stretch>
                  <a:fillRect l="-980" t="-176923"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77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1" grpId="0"/>
      <p:bldP spid="72" grpId="0"/>
      <p:bldP spid="7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9D01547-F2A7-EF48-B8BB-CDD746C8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4400" dirty="0"/>
              <a:t>在格点上的计算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44C997-C664-30C4-5A9A-4917CF4A8879}"/>
              </a:ext>
            </a:extLst>
          </p:cNvPr>
          <p:cNvSpPr txBox="1"/>
          <p:nvPr/>
        </p:nvSpPr>
        <p:spPr>
          <a:xfrm>
            <a:off x="519049" y="1451785"/>
            <a:ext cx="3443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2800" dirty="0"/>
              <a:t>格点上的电子密度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A32E6FA-69F6-4CDE-2FC6-8D30A6DEA273}"/>
                  </a:ext>
                </a:extLst>
              </p:cNvPr>
              <p:cNvSpPr txBox="1"/>
              <p:nvPr/>
            </p:nvSpPr>
            <p:spPr>
              <a:xfrm>
                <a:off x="762100" y="2160199"/>
                <a:ext cx="4481804" cy="104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zh-CN" sz="2800" b="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A32E6FA-69F6-4CDE-2FC6-8D30A6DE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0" y="2160199"/>
                <a:ext cx="4481804" cy="1043234"/>
              </a:xfrm>
              <a:prstGeom prst="rect">
                <a:avLst/>
              </a:prstGeom>
              <a:blipFill>
                <a:blip r:embed="rId3"/>
                <a:stretch>
                  <a:fillRect l="-1416" t="-144048" b="-2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0B820ED-CEE4-BD26-7B18-52494EC527F8}"/>
                  </a:ext>
                </a:extLst>
              </p:cNvPr>
              <p:cNvSpPr txBox="1"/>
              <p:nvPr/>
            </p:nvSpPr>
            <p:spPr>
              <a:xfrm>
                <a:off x="5769434" y="2445982"/>
                <a:ext cx="2441116" cy="471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0B820ED-CEE4-BD26-7B18-52494EC52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434" y="2445982"/>
                <a:ext cx="2441116" cy="471668"/>
              </a:xfrm>
              <a:prstGeom prst="rect">
                <a:avLst/>
              </a:prstGeom>
              <a:blipFill>
                <a:blip r:embed="rId4"/>
                <a:stretch>
                  <a:fillRect l="-2591" r="-518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46A4E13-AC5E-A327-BF3A-3A60D3E05D77}"/>
                  </a:ext>
                </a:extLst>
              </p:cNvPr>
              <p:cNvSpPr txBox="1"/>
              <p:nvPr/>
            </p:nvSpPr>
            <p:spPr>
              <a:xfrm>
                <a:off x="2057466" y="3748964"/>
                <a:ext cx="2910027" cy="471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46A4E13-AC5E-A327-BF3A-3A60D3E05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66" y="3748964"/>
                <a:ext cx="2910027" cy="471668"/>
              </a:xfrm>
              <a:prstGeom prst="rect">
                <a:avLst/>
              </a:prstGeom>
              <a:blipFill>
                <a:blip r:embed="rId5"/>
                <a:stretch>
                  <a:fillRect l="-2174" r="-3478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5BE7F6A-CD47-4481-6EE5-86F7CBC2D303}"/>
                  </a:ext>
                </a:extLst>
              </p:cNvPr>
              <p:cNvSpPr txBox="1"/>
              <p:nvPr/>
            </p:nvSpPr>
            <p:spPr>
              <a:xfrm>
                <a:off x="1910013" y="4397756"/>
                <a:ext cx="4325479" cy="557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𝟏𝟐𝟖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𝒈𝒃</m:t>
                          </m:r>
                        </m:sup>
                      </m:sSubSup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𝒈𝒃</m:t>
                          </m:r>
                        </m:sup>
                      </m:sSubSup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5BE7F6A-CD47-4481-6EE5-86F7CBC2D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13" y="4397756"/>
                <a:ext cx="4325479" cy="557653"/>
              </a:xfrm>
              <a:prstGeom prst="rect">
                <a:avLst/>
              </a:prstGeom>
              <a:blipFill>
                <a:blip r:embed="rId6"/>
                <a:stretch>
                  <a:fillRect l="-1462" t="-2222" r="-2047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41FDBAEB-DBD5-593D-9A01-721B364B72AF}"/>
              </a:ext>
            </a:extLst>
          </p:cNvPr>
          <p:cNvGrpSpPr/>
          <p:nvPr/>
        </p:nvGrpSpPr>
        <p:grpSpPr>
          <a:xfrm>
            <a:off x="2545802" y="2180785"/>
            <a:ext cx="1645208" cy="1509729"/>
            <a:chOff x="2545802" y="2180785"/>
            <a:chExt cx="1645208" cy="1509729"/>
          </a:xfrm>
        </p:grpSpPr>
        <p:sp>
          <p:nvSpPr>
            <p:cNvPr id="2" name="双中括号 1">
              <a:extLst>
                <a:ext uri="{FF2B5EF4-FFF2-40B4-BE49-F238E27FC236}">
                  <a16:creationId xmlns:a16="http://schemas.microsoft.com/office/drawing/2014/main" id="{D1D5F647-7E8A-74DB-35A5-2B01D6B5A0C0}"/>
                </a:ext>
              </a:extLst>
            </p:cNvPr>
            <p:cNvSpPr/>
            <p:nvPr/>
          </p:nvSpPr>
          <p:spPr>
            <a:xfrm>
              <a:off x="2545802" y="2180785"/>
              <a:ext cx="1645208" cy="1022648"/>
            </a:xfrm>
            <a:prstGeom prst="bracketPair">
              <a:avLst/>
            </a:prstGeom>
            <a:ln>
              <a:solidFill>
                <a:srgbClr val="0000FF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FF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DAD5354-5C28-80F1-2812-68AF81B75111}"/>
                    </a:ext>
                  </a:extLst>
                </p:cNvPr>
                <p:cNvSpPr txBox="1"/>
                <p:nvPr/>
              </p:nvSpPr>
              <p:spPr>
                <a:xfrm>
                  <a:off x="2664059" y="3167486"/>
                  <a:ext cx="1408694" cy="5230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𝝂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kumimoji="1" lang="en-US" altLang="zh-CN" sz="24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DAD5354-5C28-80F1-2812-68AF81B75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059" y="3167486"/>
                  <a:ext cx="1408694" cy="523028"/>
                </a:xfrm>
                <a:prstGeom prst="rect">
                  <a:avLst/>
                </a:prstGeom>
                <a:blipFill>
                  <a:blip r:embed="rId7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C9CC3CC-B47D-F47A-B0AE-5EF8216E5542}"/>
                  </a:ext>
                </a:extLst>
              </p:cNvPr>
              <p:cNvSpPr txBox="1"/>
              <p:nvPr/>
            </p:nvSpPr>
            <p:spPr>
              <a:xfrm>
                <a:off x="762100" y="5538984"/>
                <a:ext cx="4648078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kumimoji="1" lang="zh-CN" altLang="en-US" sz="1800" b="0" dirty="0"/>
                  <a:t>思考：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kumimoji="1"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8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zh-CN" sz="1800" b="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d>
                          <m:dPr>
                            <m:ctrlP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sz="18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800" b="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1" lang="en-US" altLang="zh-CN" sz="1800" b="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sz="18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800" b="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1" lang="en-US" altLang="zh-CN" sz="1800" b="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C9CC3CC-B47D-F47A-B0AE-5EF8216E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0" y="5538984"/>
                <a:ext cx="4648078" cy="506870"/>
              </a:xfrm>
              <a:prstGeom prst="rect">
                <a:avLst/>
              </a:prstGeom>
              <a:blipFill>
                <a:blip r:embed="rId8"/>
                <a:stretch>
                  <a:fillRect l="-1093" t="-68293" b="-109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1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0D5E-D92C-8DDE-5A06-A524FD8D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7EEEE10-E8F6-F725-1984-C2BE1EE1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4400" dirty="0"/>
              <a:t>在格点上的计算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A10004B-758F-A465-C5F3-07A82145ABA2}"/>
                  </a:ext>
                </a:extLst>
              </p:cNvPr>
              <p:cNvSpPr txBox="1"/>
              <p:nvPr/>
            </p:nvSpPr>
            <p:spPr>
              <a:xfrm>
                <a:off x="199801" y="1547760"/>
                <a:ext cx="5057981" cy="565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𝑮𝑮𝑨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</a:rPr>
                        <m:t>交换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</a:rPr>
                        <m:t>相关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</a:rPr>
                        <m:t>矩阵</m:t>
                      </m:r>
                      <m:sSubSup>
                        <m:sSubSup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𝝁𝝂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𝒙𝒄</m:t>
                          </m:r>
                        </m:sup>
                      </m:sSubSup>
                      <m:r>
                        <a:rPr kumimoji="1" lang="zh-CN" altLang="en-US" sz="2800" b="1" i="1">
                          <a:latin typeface="Cambria Math" panose="02040503050406030204" pitchFamily="18" charset="0"/>
                        </a:rPr>
                        <m:t>构造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144C997-C664-30C4-5A9A-4917CF4A8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01" y="1547760"/>
                <a:ext cx="5057981" cy="565283"/>
              </a:xfrm>
              <a:prstGeom prst="rect">
                <a:avLst/>
              </a:prstGeom>
              <a:blipFill>
                <a:blip r:embed="rId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23D2D9-02CA-5401-0758-57F6DF09B061}"/>
                  </a:ext>
                </a:extLst>
              </p:cNvPr>
              <p:cNvSpPr txBox="1"/>
              <p:nvPr/>
            </p:nvSpPr>
            <p:spPr>
              <a:xfrm>
                <a:off x="762100" y="2160199"/>
                <a:ext cx="3679661" cy="892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𝑥𝑐</m:t>
                          </m:r>
                        </m:sup>
                      </m:sSub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=&lt;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𝛿𝜌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kumimoji="1" lang="en-US" altLang="zh-CN" sz="2800" b="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A32E6FA-69F6-4CDE-2FC6-8D30A6DE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0" y="2160199"/>
                <a:ext cx="3679661" cy="892039"/>
              </a:xfrm>
              <a:prstGeom prst="rect">
                <a:avLst/>
              </a:prstGeom>
              <a:blipFill>
                <a:blip r:embed="rId4"/>
                <a:stretch>
                  <a:fillRect l="-1724" t="-5556" r="-103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7F9E9B-580A-E443-0888-50B7AB2E4F39}"/>
                  </a:ext>
                </a:extLst>
              </p:cNvPr>
              <p:cNvSpPr txBox="1"/>
              <p:nvPr/>
            </p:nvSpPr>
            <p:spPr>
              <a:xfrm flipH="1">
                <a:off x="304912" y="3268350"/>
                <a:ext cx="8648399" cy="8921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 { </m:t>
                      </m:r>
                      <m:sSubSup>
                        <m:sSub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𝜕𝜌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⋅(</m:t>
                      </m:r>
                      <m:sSubSup>
                        <m:sSub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1" lang="en-US" altLang="zh-CN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26F4F2A-4F70-6EC2-417E-A87F03877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4912" y="3268350"/>
                <a:ext cx="8648399" cy="892167"/>
              </a:xfrm>
              <a:prstGeom prst="rect">
                <a:avLst/>
              </a:prstGeom>
              <a:blipFill>
                <a:blip r:embed="rId5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077902-2E6C-7CB9-2671-C7798FDFE794}"/>
                  </a:ext>
                </a:extLst>
              </p:cNvPr>
              <p:cNvSpPr txBox="1"/>
              <p:nvPr/>
            </p:nvSpPr>
            <p:spPr>
              <a:xfrm flipH="1">
                <a:off x="-380870" y="4282984"/>
                <a:ext cx="6857821" cy="894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9"/>
                                </m:r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m:rPr>
                                  <m:brk m:alnAt="9"/>
                                </m:r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{ </m:t>
                          </m:r>
                          <m:sSubSup>
                            <m:sSubSup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d>
                            <m:d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C00B288-D30D-3FA2-472C-75EC0066B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380870" y="4282984"/>
                <a:ext cx="6857821" cy="894604"/>
              </a:xfrm>
              <a:prstGeom prst="rect">
                <a:avLst/>
              </a:prstGeom>
              <a:blipFill>
                <a:blip r:embed="rId6"/>
                <a:stretch>
                  <a:fillRect t="-181690" b="-243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D54EE6B-B0C6-F0D4-A90E-1AD8D34136C3}"/>
                  </a:ext>
                </a:extLst>
              </p:cNvPr>
              <p:cNvSpPr txBox="1"/>
              <p:nvPr/>
            </p:nvSpPr>
            <p:spPr>
              <a:xfrm>
                <a:off x="990694" y="5269416"/>
                <a:ext cx="7695998" cy="627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𝑥𝑐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∇</m:t>
                          </m:r>
                        </m:sup>
                      </m:sSubSup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)⋅(</m:t>
                      </m:r>
                      <m:sSubSup>
                        <m:sSub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800" b="1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189734-BF86-D6F5-34F5-ACCE68E86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94" y="5269416"/>
                <a:ext cx="7695998" cy="627416"/>
              </a:xfrm>
              <a:prstGeom prst="rect">
                <a:avLst/>
              </a:prstGeom>
              <a:blipFill>
                <a:blip r:embed="rId7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44D6194-B2C9-BA14-3924-3BD052E5BC2B}"/>
                  </a:ext>
                </a:extLst>
              </p:cNvPr>
              <p:cNvSpPr txBox="1"/>
              <p:nvPr/>
            </p:nvSpPr>
            <p:spPr>
              <a:xfrm>
                <a:off x="5703486" y="2504503"/>
                <a:ext cx="2655920" cy="471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0B820ED-CEE4-BD26-7B18-52494EC52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86" y="2504503"/>
                <a:ext cx="2655920" cy="471668"/>
              </a:xfrm>
              <a:prstGeom prst="rect">
                <a:avLst/>
              </a:prstGeom>
              <a:blipFill>
                <a:blip r:embed="rId8"/>
                <a:stretch>
                  <a:fillRect l="-2381" r="-476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8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FA611-11E3-4C95-50B8-6CF606EA8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4000" dirty="0"/>
              <a:t>在格点上的计算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232E680-0168-9ADE-5FB1-45505F56B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72" y="2438426"/>
                <a:ext cx="8382056" cy="3657420"/>
              </a:xfrm>
            </p:spPr>
            <p:txBody>
              <a:bodyPr/>
              <a:lstStyle/>
              <a:p>
                <a:r>
                  <a:rPr kumimoji="1" lang="zh-CN" altLang="en-US" dirty="0"/>
                  <a:t>直接实现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𝜇𝜈</m:t>
                        </m:r>
                      </m:sub>
                      <m: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𝑥𝑐</m:t>
                        </m:r>
                      </m:sup>
                    </m:sSubSup>
                  </m:oMath>
                </a14:m>
                <a:r>
                  <a:rPr kumimoji="1" lang="zh-CN" altLang="en-US" dirty="0"/>
                  <a:t>的计算程序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  <m:r>
                      <a:rPr kumimoji="1"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kumimoji="1"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kumimoji="1"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kumimoji="1"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kumimoji="1" lang="zh-CN" altLang="en-US" dirty="0"/>
                  <a:t>如何提高效率？</a:t>
                </a:r>
                <a:endParaRPr kumimoji="1" lang="en-US" altLang="zh-CN" dirty="0"/>
              </a:p>
              <a:p>
                <a:pPr lvl="1"/>
                <a:r>
                  <a:rPr kumimoji="1" lang="zh-CN" altLang="en-US" dirty="0"/>
                  <a:t>基组局域性</a:t>
                </a:r>
                <a:r>
                  <a:rPr kumimoji="1" lang="en-US" altLang="zh-CN" dirty="0"/>
                  <a:t>, grid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batch</a:t>
                </a:r>
              </a:p>
              <a:p>
                <a:pPr lvl="1"/>
                <a:r>
                  <a:rPr kumimoji="1" lang="zh-CN" altLang="en-US" dirty="0"/>
                  <a:t>算法：构造中间量，对称性，矩阵乘</a:t>
                </a:r>
                <a:endParaRPr kumimoji="1" lang="en-US" altLang="zh-CN" dirty="0"/>
              </a:p>
              <a:p>
                <a:pPr lvl="1"/>
                <a:r>
                  <a:rPr kumimoji="1" lang="zh-CN" altLang="en-US" dirty="0"/>
                  <a:t>使用高效的矩阵乘程序：</a:t>
                </a:r>
                <a:r>
                  <a:rPr kumimoji="1" lang="en-US" altLang="zh-CN" dirty="0"/>
                  <a:t>MKL::</a:t>
                </a:r>
                <a:r>
                  <a:rPr kumimoji="1" lang="en-US" altLang="zh-CN" dirty="0" err="1"/>
                  <a:t>dgemm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232E680-0168-9ADE-5FB1-45505F56B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72" y="2438426"/>
                <a:ext cx="8382056" cy="3657420"/>
              </a:xfrm>
              <a:blipFill>
                <a:blip r:embed="rId3"/>
                <a:stretch>
                  <a:fillRect l="-906" t="-3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1532533-5C6D-99D6-DD1F-96D63AB02968}"/>
                  </a:ext>
                </a:extLst>
              </p:cNvPr>
              <p:cNvSpPr txBox="1"/>
              <p:nvPr/>
            </p:nvSpPr>
            <p:spPr>
              <a:xfrm>
                <a:off x="199801" y="1547760"/>
                <a:ext cx="5057981" cy="565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𝑮𝑮𝑨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</a:rPr>
                        <m:t>交换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</a:rPr>
                        <m:t>相关</m:t>
                      </m:r>
                      <m:r>
                        <a:rPr kumimoji="1" lang="zh-CN" altLang="en-US" sz="2800" b="1" i="1" smtClean="0">
                          <a:latin typeface="Cambria Math" panose="02040503050406030204" pitchFamily="18" charset="0"/>
                        </a:rPr>
                        <m:t>矩阵</m:t>
                      </m:r>
                      <m:sSubSup>
                        <m:sSubSup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𝝁𝝂</m:t>
                          </m:r>
                        </m:sub>
                        <m:sup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𝒙𝒄</m:t>
                          </m:r>
                        </m:sup>
                      </m:sSubSup>
                      <m:r>
                        <a:rPr kumimoji="1" lang="zh-CN" altLang="en-US" sz="2800" b="1" i="1">
                          <a:latin typeface="Cambria Math" panose="02040503050406030204" pitchFamily="18" charset="0"/>
                        </a:rPr>
                        <m:t>构造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1532533-5C6D-99D6-DD1F-96D63AB0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01" y="1547760"/>
                <a:ext cx="5057981" cy="565283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865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WordArt 4">
            <a:extLst>
              <a:ext uri="{FF2B5EF4-FFF2-40B4-BE49-F238E27FC236}">
                <a16:creationId xmlns:a16="http://schemas.microsoft.com/office/drawing/2014/main" id="{D0C11B8F-7BA8-4409-9464-3F3B2B9721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590800"/>
            <a:ext cx="4648200" cy="24384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altLang="zh-CN" sz="4400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Thanks</a:t>
            </a:r>
            <a:endParaRPr lang="zh-CN" altLang="en-US" sz="4400" kern="1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Radial">
  <a:themeElements>
    <a:clrScheme name="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989E5"/>
      </a:accent6>
      <a:hlink>
        <a:srgbClr val="996666"/>
      </a:hlink>
      <a:folHlink>
        <a:srgbClr val="6666C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adial">
  <a:themeElements>
    <a:clrScheme name="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989E5"/>
      </a:accent6>
      <a:hlink>
        <a:srgbClr val="996666"/>
      </a:hlink>
      <a:folHlink>
        <a:srgbClr val="6666C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6864</TotalTime>
  <Pages>0</Pages>
  <Words>557</Words>
  <Characters>0</Characters>
  <Application>Microsoft Macintosh PowerPoint</Application>
  <DocSecurity>0</DocSecurity>
  <PresentationFormat>全屏显示(4:3)</PresentationFormat>
  <Lines>0</Lines>
  <Paragraphs>144</Paragraphs>
  <Slides>16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华文中宋</vt:lpstr>
      <vt:lpstr>Arial</vt:lpstr>
      <vt:lpstr>Arial Black</vt:lpstr>
      <vt:lpstr>Calibri</vt:lpstr>
      <vt:lpstr>Cambria Math</vt:lpstr>
      <vt:lpstr>consolas</vt:lpstr>
      <vt:lpstr>Times New Roman</vt:lpstr>
      <vt:lpstr>Wingdings</vt:lpstr>
      <vt:lpstr>Radial</vt:lpstr>
      <vt:lpstr>1_Radial</vt:lpstr>
      <vt:lpstr>程序培训-数值积分</vt:lpstr>
      <vt:lpstr>PowerPoint 演示文稿</vt:lpstr>
      <vt:lpstr>量化中什么时候需要数值积分？</vt:lpstr>
      <vt:lpstr>PowerPoint 演示文稿</vt:lpstr>
      <vt:lpstr>均匀格点</vt:lpstr>
      <vt:lpstr>原子中心格点</vt:lpstr>
      <vt:lpstr>原子中心格点</vt:lpstr>
      <vt:lpstr>PowerPoint 演示文稿</vt:lpstr>
      <vt:lpstr>PowerPoint 演示文稿</vt:lpstr>
      <vt:lpstr>PowerPoint 演示文稿</vt:lpstr>
      <vt:lpstr>Partition Function</vt:lpstr>
      <vt:lpstr>在格点上的计算：基组，分块</vt:lpstr>
      <vt:lpstr>在格点上的计算</vt:lpstr>
      <vt:lpstr>在格点上的计算</vt:lpstr>
      <vt:lpstr>在格点上的计算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Microsoft Office User</cp:lastModifiedBy>
  <cp:revision>1114</cp:revision>
  <dcterms:created xsi:type="dcterms:W3CDTF">2012-11-25T08:00:31Z</dcterms:created>
  <dcterms:modified xsi:type="dcterms:W3CDTF">2024-12-03T14:49:24Z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2052-10.1.0.7400</vt:lpwstr>
  </property>
</Properties>
</file>